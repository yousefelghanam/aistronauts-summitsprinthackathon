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Amtsweg is an AI companion that acts like a personal clerk for everyone living in Austria. Instead of hunting through portals, forms and opening hours, you just say what you need — and Amtsweg gets it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Austria — from a 16-year-old applying for their first ID to an 80-year-old pensioner — faces the same maze: finding the right office, filling the same personal data again and again, decoding official German and chasing appointments.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Amtsweg is not another portal. It is a companion: one conversation that replaces the search, the forms and the trips to the office. It works for every age group — teenagers getting their first ID, students, families, and seniors.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is always the same: you state the need, Amtsweg picks the right service and prefills it with your verified ID Austria data, you review and complete it, and nothing is sent until you confirm with an ID Austria biometric check. Then it submits, tracks the reference number and books follow-up appointments.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 screen greets you personally and offers two modes. "Ask" answers questions about any public service. "Get it done" is the do-it-for-me mode: Amtsweg fills in the application, submits it and books appointments for you. Quick topics cover the most common life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question is enough. Amtsweg identifies the right procedure and the responsible authority, then fills in every field it already knows from ID Austria. The user only completes the remaining details like current permit number and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shows exactly which documents are required and marks each one as complete. Nothing is sent until the user presses Sign and apply, which triggers an ID Austria biometric confirmation such as face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signing, the application goes straight to MA 35. The user gets a reference number, an e-mail confirmation and a clear explanation of what happens next. In Get it done mode, Amtsweg also books the follow-up appointment, again only after biometric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is the core of the product. Amtsweg reuses verified ID Austria data, and it never submits an application or confirms an appointment on its own: the final step is always an ID Austria biometric check, such as face recognition, by the actual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Amtsweg is designed for the whole population: multilingual conversations, speech-to-text input for people who prefer speaking over typing, and the do-it-for-me mode that handles filling, sending and 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Amtsweg accompanies people through every stage: the first ID card at 16, studying, moving, buying a car, starting a family, taxes, health and finally retirement. The quick topics on the home screen are the entry points to these journeys.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Amtsweg turns bureaucracy into a conversation. It reuses verified ID Austria data, fills and sends applications, books appointments, speaks your language — and never acts without your biometric confirmation.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4127500" y="1738635"/>
            <a:ext cx="6731000" cy="1005830"/>
          </a:xfrm>
          <a:prstGeom prst="rect">
            <a:avLst/>
          </a:prstGeom>
          <a:noFill/>
          <a:ln/>
        </p:spPr>
        <p:txBody>
          <a:bodyPr wrap="square" lIns="0" tIns="0" rIns="0" bIns="0" rtlCol="0" anchor="t"/>
          <a:lstStyle>
            <a:lvl1pPr algn="l" indent="0" marL="0">
              <a:lnSpc>
                <a:spcPct val="115000"/>
              </a:lnSpc>
              <a:buNone/>
              <a:defRPr lang="en-US" sz="3600" dirty="0">
                <a:solidFill>
                  <a:srgbClr val="1B1D24"/>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4127500" y="3049265"/>
            <a:ext cx="7251700" cy="2995935"/>
          </a:xfrm>
          <a:prstGeom prst="rect">
            <a:avLst/>
          </a:prstGeom>
          <a:noFill/>
          <a:ln/>
        </p:spPr>
        <p:txBody>
          <a:bodyPr wrap="square" lIns="0" tIns="0" rIns="0" bIns="0" rtlCol="0" anchor="t"/>
          <a:lstStyle>
            <a:lvl1pPr algn="l" indent="0" marL="0">
              <a:lnSpc>
                <a:spcPct val="140000"/>
              </a:lnSpc>
              <a:buNone/>
              <a:defRPr lang="en-US" sz="1600" dirty="0">
                <a:solidFill>
                  <a:srgbClr val="1B1D24"/>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6"/>
        </a:solidFill>
      </p:bgPr>
    </p:bg>
    <p:spTree>
      <p:nvGrpSpPr>
        <p:cNvPr id="1" name=""/>
        <p:cNvGrpSpPr/>
        <p:nvPr/>
      </p:nvGrpSpPr>
      <p:grpSpPr>
        <a:xfrm>
          <a:off x="0" y="0"/>
          <a:ext cx="0" cy="0"/>
          <a:chOff x="0" y="0"/>
          <a:chExt cx="0" cy="0"/>
        </a:xfrm>
      </p:grpSpPr>
      <p:sp>
        <p:nvSpPr>
          <p:cNvPr id="2" name="Title Placeholder 1"/>
          <p:cNvSpPr/>
          <p:nvPr>
            <p:ph type="title"/>
          </p:nvPr>
        </p:nvSpPr>
        <p:spPr>
          <a:xfrm>
            <a:off x="4127500" y="1738635"/>
            <a:ext cx="6731000" cy="1005830"/>
          </a:xfrm>
          <a:prstGeom prst="rect">
            <a:avLst/>
          </a:prstGeom>
          <a:noFill/>
          <a:ln/>
        </p:spPr>
        <p:txBody>
          <a:bodyPr wrap="square" lIns="0" tIns="0" rIns="0" bIns="0" rtlCol="0" anchor="t"/>
          <a:lstStyle>
            <a:lvl1pPr algn="l" indent="0" marL="0">
              <a:lnSpc>
                <a:spcPct val="115000"/>
              </a:lnSpc>
              <a:buNone/>
              <a:defRPr lang="en-US" sz="3600" dirty="0">
                <a:solidFill>
                  <a:srgbClr val="1B1D24"/>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4127500" y="3049265"/>
            <a:ext cx="7251700" cy="2995935"/>
          </a:xfrm>
          <a:prstGeom prst="rect">
            <a:avLst/>
          </a:prstGeom>
          <a:noFill/>
          <a:ln/>
        </p:spPr>
        <p:txBody>
          <a:bodyPr wrap="square" lIns="0" tIns="0" rIns="0" bIns="0" rtlCol="0" anchor="t"/>
          <a:lstStyle>
            <a:lvl1pPr algn="l" indent="0" marL="0">
              <a:lnSpc>
                <a:spcPct val="140000"/>
              </a:lnSpc>
              <a:buNone/>
              <a:defRPr lang="en-US" sz="1600" dirty="0">
                <a:solidFill>
                  <a:srgbClr val="1B1D24"/>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webp"/><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6"/>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C8102E"/>
          </a:solidFill>
          <a:ln/>
        </p:spPr>
      </p:sp>
      <p:sp>
        <p:nvSpPr>
          <p:cNvPr id="3" name="Shape 1"/>
          <p:cNvSpPr/>
          <p:nvPr/>
        </p:nvSpPr>
        <p:spPr>
          <a:xfrm>
            <a:off x="0" y="152400"/>
            <a:ext cx="12192000" cy="152400"/>
          </a:xfrm>
          <a:prstGeom prst="rect">
            <a:avLst/>
          </a:prstGeom>
          <a:solidFill>
            <a:srgbClr val="FAF7F6"/>
          </a:solidFill>
          <a:ln/>
        </p:spPr>
      </p:sp>
      <p:sp>
        <p:nvSpPr>
          <p:cNvPr id="4" name="Shape 2"/>
          <p:cNvSpPr/>
          <p:nvPr/>
        </p:nvSpPr>
        <p:spPr>
          <a:xfrm>
            <a:off x="0" y="304800"/>
            <a:ext cx="12192000" cy="152400"/>
          </a:xfrm>
          <a:prstGeom prst="rect">
            <a:avLst/>
          </a:prstGeom>
          <a:solidFill>
            <a:srgbClr val="C8102E"/>
          </a:solidFill>
          <a:ln/>
        </p:spPr>
      </p:sp>
      <p:sp>
        <p:nvSpPr>
          <p:cNvPr id="5" name="Text 3"/>
          <p:cNvSpPr/>
          <p:nvPr/>
        </p:nvSpPr>
        <p:spPr>
          <a:xfrm>
            <a:off x="812800" y="17310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C8102E"/>
                </a:solidFill>
                <a:latin typeface="Public Sans" pitchFamily="34" charset="0"/>
                <a:ea typeface="Public Sans" pitchFamily="34" charset="-122"/>
                <a:cs typeface="Public Sans" pitchFamily="34" charset="-120"/>
              </a:rPr>
              <a:t>AISTRONAUTS · SUMMIT SPRINT HACKATHON</a:t>
            </a:r>
            <a:endParaRPr lang="en-US" sz="1600" dirty="0"/>
          </a:p>
        </p:txBody>
      </p:sp>
      <p:sp>
        <p:nvSpPr>
          <p:cNvPr id="6" name="Text 4"/>
          <p:cNvSpPr/>
          <p:nvPr>
            <p:ph type="title"/>
          </p:nvPr>
        </p:nvSpPr>
        <p:spPr>
          <a:xfrm>
            <a:off x="812800" y="226948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spc="-300" kern="0" dirty="0">
                <a:solidFill>
                  <a:srgbClr val="1B1D24"/>
                </a:solidFill>
                <a:latin typeface="DM Sans" pitchFamily="34" charset="0"/>
                <a:ea typeface="DM Sans" pitchFamily="34" charset="-122"/>
                <a:cs typeface="DM Sans" pitchFamily="34" charset="-120"/>
              </a:rPr>
              <a:t>Amtsweg</a:t>
            </a:r>
            <a:endParaRPr lang="en-US" sz="10000" dirty="0"/>
          </a:p>
        </p:txBody>
      </p:sp>
      <p:sp>
        <p:nvSpPr>
          <p:cNvPr id="7" name="Text 5"/>
          <p:cNvSpPr/>
          <p:nvPr/>
        </p:nvSpPr>
        <p:spPr>
          <a:xfrm>
            <a:off x="812800" y="3793480"/>
            <a:ext cx="6278880" cy="1358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3A3D47"/>
                </a:solidFill>
                <a:latin typeface="Public Sans" pitchFamily="34" charset="0"/>
                <a:ea typeface="Public Sans" pitchFamily="34" charset="-122"/>
                <a:cs typeface="Public Sans" pitchFamily="34" charset="-120"/>
              </a:rPr>
              <a:t>Your portable official clerk — every Austrian public service, done in one conversation.</a:t>
            </a:r>
            <a:endParaRPr lang="en-US" sz="2800" dirty="0"/>
          </a:p>
        </p:txBody>
      </p:sp>
      <p:pic>
        <p:nvPicPr>
          <p:cNvPr id="8" name="Image 0" descr="Amtsweg home screen: Good Evening Armando, How can I help you today?">    </p:cNvPr>
          <p:cNvPicPr>
            <a:picLocks noChangeAspect="1"/>
          </p:cNvPicPr>
          <p:nvPr/>
        </p:nvPicPr>
        <p:blipFill>
          <a:blip r:embed="rId1"/>
          <a:srcRect l="0" r="0" t="100" b="100"/>
          <a:stretch/>
        </p:blipFill>
        <p:spPr>
          <a:xfrm>
            <a:off x="7626350" y="1911350"/>
            <a:ext cx="4559300" cy="2857500"/>
          </a:xfrm>
          <a:custGeom>
            <a:avLst/>
            <a:gdLst/>
            <a:ahLst/>
            <a:cxnLst/>
            <a:rect l="l" t="t" r="r" b="b"/>
            <a:pathLst>
              <a:path w="4559300" h="2857500">
                <a:moveTo>
                  <a:pt x="146050" y="0"/>
                </a:moveTo>
                <a:lnTo>
                  <a:pt x="4559300" y="0"/>
                </a:lnTo>
                <a:lnTo>
                  <a:pt x="4559300" y="2857500"/>
                </a:lnTo>
                <a:lnTo>
                  <a:pt x="146050" y="2857500"/>
                </a:lnTo>
                <a:arcTo wR="146050" hR="146050" stAng="5400000" swAng="5400000"/>
                <a:lnTo>
                  <a:pt x="0" y="146050"/>
                </a:lnTo>
                <a:arcTo wR="146050" hR="146050" stAng="10800000" swAng="5400000"/>
                <a:close/>
              </a:path>
            </a:pathLst>
          </a:custGeom>
          <a:effectLst>
            <a:outerShdw sx="100000" sy="100000" kx="0" ky="0" algn="bl" rotWithShape="0" blurRad="508000" dist="152400" dir="5400000">
              <a:srgbClr val="1B1D24">
                <a:alpha val="18000"/>
              </a:srgbClr>
            </a:outerShdw>
          </a:effectLst>
        </p:spPr>
      </p:pic>
      <p:sp>
        <p:nvSpPr>
          <p:cNvPr id="9" name="Shape 6"/>
          <p:cNvSpPr/>
          <p:nvPr/>
        </p:nvSpPr>
        <p:spPr>
          <a:xfrm>
            <a:off x="7623175" y="1908175"/>
            <a:ext cx="4565650" cy="2863850"/>
          </a:xfrm>
          <a:custGeom>
            <a:avLst/>
            <a:gdLst/>
            <a:ahLst/>
            <a:cxnLst/>
            <a:rect l="l" t="t" r="r" b="b"/>
            <a:pathLst>
              <a:path w="4565650" h="2863850">
                <a:moveTo>
                  <a:pt x="149225" y="0"/>
                </a:moveTo>
                <a:lnTo>
                  <a:pt x="4565650" y="0"/>
                </a:lnTo>
                <a:lnTo>
                  <a:pt x="4565650" y="2863850"/>
                </a:lnTo>
                <a:lnTo>
                  <a:pt x="149225" y="2863850"/>
                </a:lnTo>
                <a:arcTo hR="149225" wR="149225" stAng="5400000" swAng="5400000"/>
                <a:lnTo>
                  <a:pt x="0" y="149225"/>
                </a:lnTo>
                <a:arcTo hR="149225" wR="149225" stAng="10800000" swAng="5400000"/>
                <a:close/>
              </a:path>
            </a:pathLst>
          </a:custGeom>
          <a:noFill/>
          <a:ln w="6350">
            <a:solidFill>
              <a:srgbClr val="E7E0D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THE PROBLEM</a:t>
            </a:r>
            <a:endParaRPr lang="en-US" sz="1400" dirty="0"/>
          </a:p>
        </p:txBody>
      </p:sp>
      <p:sp>
        <p:nvSpPr>
          <p:cNvPr id="3" name="Text 1"/>
          <p:cNvSpPr/>
          <p:nvPr>
            <p:ph type="title"/>
          </p:nvPr>
        </p:nvSpPr>
        <p:spPr>
          <a:xfrm>
            <a:off x="812800" y="1417290"/>
            <a:ext cx="9810750" cy="1143000"/>
          </a:xfrm>
          <a:prstGeom prst="rect">
            <a:avLst/>
          </a:prstGeom>
          <a:noFill/>
          <a:ln/>
        </p:spPr>
        <p:txBody>
          <a:bodyPr wrap="square" lIns="0" tIns="0" rIns="0" bIns="0" rtlCol="0" anchor="t">
            <a:normAutofit/>
          </a:bodyPr>
          <a:lstStyle/>
          <a:p>
            <a:pPr algn="l" indent="0" marL="0">
              <a:lnSpc>
                <a:spcPts val="4400"/>
              </a:lnSpc>
              <a:buNone/>
            </a:pPr>
            <a:r>
              <a:rPr lang="en-US" sz="4000" b="1" i="0" spc="-100" kern="0" dirty="0">
                <a:solidFill>
                  <a:srgbClr val="1B1D24"/>
                </a:solidFill>
                <a:latin typeface="DM Sans" pitchFamily="34" charset="0"/>
                <a:ea typeface="DM Sans" pitchFamily="34" charset="-122"/>
                <a:cs typeface="DM Sans" pitchFamily="34" charset="-120"/>
              </a:rPr>
              <a:t>Dealing with the authorities still feels like a full-time job.</a:t>
            </a:r>
            <a:endParaRPr lang="en-US" sz="4000" dirty="0"/>
          </a:p>
        </p:txBody>
      </p:sp>
      <p:sp>
        <p:nvSpPr>
          <p:cNvPr id="4" name="Shape 2"/>
          <p:cNvSpPr/>
          <p:nvPr/>
        </p:nvSpPr>
        <p:spPr>
          <a:xfrm>
            <a:off x="815975" y="2893665"/>
            <a:ext cx="2482850" cy="3148360"/>
          </a:xfrm>
          <a:prstGeom prst="roundRect">
            <a:avLst>
              <a:gd name="adj" fmla="val 4987"/>
            </a:avLst>
          </a:prstGeom>
          <a:solidFill>
            <a:srgbClr val="FFFFFF"/>
          </a:solidFill>
          <a:ln w="6350">
            <a:solidFill>
              <a:srgbClr val="E7E0DE"/>
            </a:solidFill>
            <a:prstDash val="solid"/>
          </a:ln>
        </p:spPr>
      </p:sp>
      <p:pic>
        <p:nvPicPr>
          <p:cNvPr id="5" name="Image 0" descr="Search">    </p:cNvPr>
          <p:cNvPicPr>
            <a:picLocks noChangeAspect="1"/>
          </p:cNvPicPr>
          <p:nvPr/>
        </p:nvPicPr>
        <p:blipFill>
          <a:blip r:embed="rId1"/>
          <a:srcRect l="0" r="0" t="0" b="0"/>
          <a:stretch/>
        </p:blipFill>
        <p:spPr>
          <a:xfrm>
            <a:off x="1073150" y="3150840"/>
            <a:ext cx="304800" cy="304800"/>
          </a:xfrm>
          <a:prstGeom prst="rect">
            <a:avLst/>
          </a:prstGeom>
        </p:spPr>
      </p:pic>
      <p:sp>
        <p:nvSpPr>
          <p:cNvPr id="6" name="Text 3"/>
          <p:cNvSpPr/>
          <p:nvPr/>
        </p:nvSpPr>
        <p:spPr>
          <a:xfrm>
            <a:off x="1073150" y="3557240"/>
            <a:ext cx="202755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4"/>
                </a:solidFill>
                <a:latin typeface="Public Sans" pitchFamily="34" charset="0"/>
                <a:ea typeface="Public Sans" pitchFamily="34" charset="-122"/>
                <a:cs typeface="Public Sans" pitchFamily="34" charset="-120"/>
              </a:rPr>
              <a:t>Where do I even start?</a:t>
            </a:r>
            <a:endParaRPr lang="en-US" sz="1800" dirty="0"/>
          </a:p>
        </p:txBody>
      </p:sp>
      <p:sp>
        <p:nvSpPr>
          <p:cNvPr id="7" name="Text 4"/>
          <p:cNvSpPr/>
          <p:nvPr/>
        </p:nvSpPr>
        <p:spPr>
          <a:xfrm>
            <a:off x="1073150" y="4207421"/>
            <a:ext cx="2027555"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Which office, which form, which deadline — spread across many portals.</a:t>
            </a:r>
            <a:endParaRPr lang="en-US" sz="1400" dirty="0"/>
          </a:p>
        </p:txBody>
      </p:sp>
      <p:sp>
        <p:nvSpPr>
          <p:cNvPr id="8" name="Shape 5"/>
          <p:cNvSpPr/>
          <p:nvPr/>
        </p:nvSpPr>
        <p:spPr>
          <a:xfrm>
            <a:off x="3508375" y="2893665"/>
            <a:ext cx="2482850" cy="3148360"/>
          </a:xfrm>
          <a:prstGeom prst="roundRect">
            <a:avLst>
              <a:gd name="adj" fmla="val 4987"/>
            </a:avLst>
          </a:prstGeom>
          <a:solidFill>
            <a:srgbClr val="FFFFFF"/>
          </a:solidFill>
          <a:ln w="6350">
            <a:solidFill>
              <a:srgbClr val="E7E0DE"/>
            </a:solidFill>
            <a:prstDash val="solid"/>
          </a:ln>
        </p:spPr>
      </p:sp>
      <p:pic>
        <p:nvPicPr>
          <p:cNvPr id="9" name="Image 1" descr="Book">    </p:cNvPr>
          <p:cNvPicPr>
            <a:picLocks noChangeAspect="1"/>
          </p:cNvPicPr>
          <p:nvPr/>
        </p:nvPicPr>
        <p:blipFill>
          <a:blip r:embed="rId2"/>
          <a:srcRect l="0" r="0" t="0" b="0"/>
          <a:stretch/>
        </p:blipFill>
        <p:spPr>
          <a:xfrm>
            <a:off x="3765550" y="3150840"/>
            <a:ext cx="304800" cy="304800"/>
          </a:xfrm>
          <a:prstGeom prst="rect">
            <a:avLst/>
          </a:prstGeom>
        </p:spPr>
      </p:pic>
      <p:sp>
        <p:nvSpPr>
          <p:cNvPr id="10" name="Text 6"/>
          <p:cNvSpPr/>
          <p:nvPr/>
        </p:nvSpPr>
        <p:spPr>
          <a:xfrm>
            <a:off x="3765550" y="355724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4"/>
                </a:solidFill>
                <a:latin typeface="Public Sans" pitchFamily="34" charset="0"/>
                <a:ea typeface="Public Sans" pitchFamily="34" charset="-122"/>
                <a:cs typeface="Public Sans" pitchFamily="34" charset="-120"/>
              </a:rPr>
              <a:t>Same data, again</a:t>
            </a:r>
            <a:endParaRPr lang="en-US" sz="1800" dirty="0"/>
          </a:p>
        </p:txBody>
      </p:sp>
      <p:sp>
        <p:nvSpPr>
          <p:cNvPr id="11" name="Text 7"/>
          <p:cNvSpPr/>
          <p:nvPr/>
        </p:nvSpPr>
        <p:spPr>
          <a:xfrm>
            <a:off x="3765550" y="3933130"/>
            <a:ext cx="2027555"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Name, birth date, address, passport — typed by hand on every single form.</a:t>
            </a:r>
            <a:endParaRPr lang="en-US" sz="1400" dirty="0"/>
          </a:p>
        </p:txBody>
      </p:sp>
      <p:sp>
        <p:nvSpPr>
          <p:cNvPr id="12" name="Shape 8"/>
          <p:cNvSpPr/>
          <p:nvPr/>
        </p:nvSpPr>
        <p:spPr>
          <a:xfrm>
            <a:off x="6200775" y="2893665"/>
            <a:ext cx="2482850" cy="3148360"/>
          </a:xfrm>
          <a:prstGeom prst="roundRect">
            <a:avLst>
              <a:gd name="adj" fmla="val 4987"/>
            </a:avLst>
          </a:prstGeom>
          <a:solidFill>
            <a:srgbClr val="FFFFFF"/>
          </a:solidFill>
          <a:ln w="6350">
            <a:solidFill>
              <a:srgbClr val="E7E0DE"/>
            </a:solidFill>
            <a:prstDash val="solid"/>
          </a:ln>
        </p:spPr>
      </p:sp>
      <p:pic>
        <p:nvPicPr>
          <p:cNvPr id="13" name="Image 2" descr="Globe">    </p:cNvPr>
          <p:cNvPicPr>
            <a:picLocks noChangeAspect="1"/>
          </p:cNvPicPr>
          <p:nvPr/>
        </p:nvPicPr>
        <p:blipFill>
          <a:blip r:embed="rId3"/>
          <a:srcRect l="0" r="0" t="0" b="0"/>
          <a:stretch/>
        </p:blipFill>
        <p:spPr>
          <a:xfrm>
            <a:off x="6457950" y="3150840"/>
            <a:ext cx="304800" cy="304800"/>
          </a:xfrm>
          <a:prstGeom prst="rect">
            <a:avLst/>
          </a:prstGeom>
        </p:spPr>
      </p:pic>
      <p:sp>
        <p:nvSpPr>
          <p:cNvPr id="14" name="Text 9"/>
          <p:cNvSpPr/>
          <p:nvPr/>
        </p:nvSpPr>
        <p:spPr>
          <a:xfrm>
            <a:off x="6457950" y="3557240"/>
            <a:ext cx="202755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4"/>
                </a:solidFill>
                <a:latin typeface="Public Sans" pitchFamily="34" charset="0"/>
                <a:ea typeface="Public Sans" pitchFamily="34" charset="-122"/>
                <a:cs typeface="Public Sans" pitchFamily="34" charset="-120"/>
              </a:rPr>
              <a:t>Language barrier</a:t>
            </a:r>
            <a:endParaRPr lang="en-US" sz="1800" dirty="0"/>
          </a:p>
        </p:txBody>
      </p:sp>
      <p:sp>
        <p:nvSpPr>
          <p:cNvPr id="15" name="Text 10"/>
          <p:cNvSpPr/>
          <p:nvPr/>
        </p:nvSpPr>
        <p:spPr>
          <a:xfrm>
            <a:off x="6457950" y="3933130"/>
            <a:ext cx="2027555"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Official German is hard — for newcomers, students and many locals too.</a:t>
            </a:r>
            <a:endParaRPr lang="en-US" sz="1400" dirty="0"/>
          </a:p>
        </p:txBody>
      </p:sp>
      <p:sp>
        <p:nvSpPr>
          <p:cNvPr id="16" name="Shape 11"/>
          <p:cNvSpPr/>
          <p:nvPr/>
        </p:nvSpPr>
        <p:spPr>
          <a:xfrm>
            <a:off x="8893175" y="2893665"/>
            <a:ext cx="2482850" cy="3148360"/>
          </a:xfrm>
          <a:prstGeom prst="roundRect">
            <a:avLst>
              <a:gd name="adj" fmla="val 4987"/>
            </a:avLst>
          </a:prstGeom>
          <a:solidFill>
            <a:srgbClr val="FFFFFF"/>
          </a:solidFill>
          <a:ln w="6350">
            <a:solidFill>
              <a:srgbClr val="E7E0DE"/>
            </a:solidFill>
            <a:prstDash val="solid"/>
          </a:ln>
        </p:spPr>
      </p:sp>
      <p:pic>
        <p:nvPicPr>
          <p:cNvPr id="17" name="Image 3" descr="Clock">    </p:cNvPr>
          <p:cNvPicPr>
            <a:picLocks noChangeAspect="1"/>
          </p:cNvPicPr>
          <p:nvPr/>
        </p:nvPicPr>
        <p:blipFill>
          <a:blip r:embed="rId4"/>
          <a:srcRect l="0" r="0" t="0" b="0"/>
          <a:stretch/>
        </p:blipFill>
        <p:spPr>
          <a:xfrm>
            <a:off x="9150350" y="3150840"/>
            <a:ext cx="304800" cy="304800"/>
          </a:xfrm>
          <a:prstGeom prst="rect">
            <a:avLst/>
          </a:prstGeom>
        </p:spPr>
      </p:pic>
      <p:sp>
        <p:nvSpPr>
          <p:cNvPr id="18" name="Text 12"/>
          <p:cNvSpPr/>
          <p:nvPr/>
        </p:nvSpPr>
        <p:spPr>
          <a:xfrm>
            <a:off x="9150350" y="3557240"/>
            <a:ext cx="202755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1D24"/>
                </a:solidFill>
                <a:latin typeface="Public Sans" pitchFamily="34" charset="0"/>
                <a:ea typeface="Public Sans" pitchFamily="34" charset="-122"/>
                <a:cs typeface="Public Sans" pitchFamily="34" charset="-120"/>
              </a:rPr>
              <a:t>Queues &amp; appointments</a:t>
            </a:r>
            <a:endParaRPr lang="en-US" sz="1800" dirty="0"/>
          </a:p>
        </p:txBody>
      </p:sp>
      <p:sp>
        <p:nvSpPr>
          <p:cNvPr id="19" name="Text 13"/>
          <p:cNvSpPr/>
          <p:nvPr/>
        </p:nvSpPr>
        <p:spPr>
          <a:xfrm>
            <a:off x="9150350" y="4207421"/>
            <a:ext cx="202755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Waiting for slots, travelling to offices, missing opening hours.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8102E"/>
        </a:solidFill>
      </p:bgPr>
    </p:bg>
    <p:spTree>
      <p:nvGrpSpPr>
        <p:cNvPr id="1" name=""/>
        <p:cNvGrpSpPr/>
        <p:nvPr/>
      </p:nvGrpSpPr>
      <p:grpSpPr>
        <a:xfrm>
          <a:off x="0" y="0"/>
          <a:ext cx="0" cy="0"/>
          <a:chOff x="0" y="0"/>
          <a:chExt cx="0" cy="0"/>
        </a:xfrm>
      </p:grpSpPr>
      <p:sp>
        <p:nvSpPr>
          <p:cNvPr id="2" name="Text 0"/>
          <p:cNvSpPr/>
          <p:nvPr/>
        </p:nvSpPr>
        <p:spPr>
          <a:xfrm>
            <a:off x="812800" y="131390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E3E6"/>
                </a:solidFill>
                <a:latin typeface="Public Sans" pitchFamily="34" charset="0"/>
                <a:ea typeface="Public Sans" pitchFamily="34" charset="-122"/>
                <a:cs typeface="Public Sans" pitchFamily="34" charset="-120"/>
              </a:rPr>
              <a:t>THE SOLUTION</a:t>
            </a:r>
            <a:endParaRPr lang="en-US" sz="1400" dirty="0"/>
          </a:p>
        </p:txBody>
      </p:sp>
      <p:sp>
        <p:nvSpPr>
          <p:cNvPr id="3" name="Text 1"/>
          <p:cNvSpPr/>
          <p:nvPr>
            <p:ph type="title"/>
          </p:nvPr>
        </p:nvSpPr>
        <p:spPr>
          <a:xfrm>
            <a:off x="812800" y="1867595"/>
            <a:ext cx="10464800" cy="2265561"/>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AF7F6"/>
                </a:solidFill>
                <a:latin typeface="DM Sans" pitchFamily="34" charset="0"/>
                <a:ea typeface="DM Sans" pitchFamily="34" charset="-122"/>
                <a:cs typeface="DM Sans" pitchFamily="34" charset="-120"/>
              </a:rPr>
              <a:t>A personal clerk in your pocket that cuts away the bureaucracy.</a:t>
            </a:r>
            <a:endParaRPr lang="en-US" sz="5600" dirty="0"/>
          </a:p>
        </p:txBody>
      </p:sp>
      <p:sp>
        <p:nvSpPr>
          <p:cNvPr id="4" name="Text 2"/>
          <p:cNvSpPr/>
          <p:nvPr/>
        </p:nvSpPr>
        <p:spPr>
          <a:xfrm>
            <a:off x="812800" y="4412555"/>
            <a:ext cx="9810750" cy="115694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FE3E6"/>
                </a:solidFill>
                <a:latin typeface="Public Sans" pitchFamily="34" charset="0"/>
                <a:ea typeface="Public Sans" pitchFamily="34" charset="-122"/>
                <a:cs typeface="Public Sans" pitchFamily="34" charset="-120"/>
              </a:rPr>
              <a:t>Amtsweg is the AI companion for every person living in Austria — from 16 to 80+. Tell it what you need; it finds the service, fills the forms, sends them and books your appointments.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HOW IT WORKS</a:t>
            </a:r>
            <a:endParaRPr lang="en-US" sz="1400" dirty="0"/>
          </a:p>
        </p:txBody>
      </p:sp>
      <p:sp>
        <p:nvSpPr>
          <p:cNvPr id="3" name="Text 1"/>
          <p:cNvSpPr/>
          <p:nvPr>
            <p:ph type="title"/>
          </p:nvPr>
        </p:nvSpPr>
        <p:spPr>
          <a:xfrm>
            <a:off x="812800" y="146809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spc="-100" kern="0" dirty="0">
                <a:solidFill>
                  <a:srgbClr val="1B1D24"/>
                </a:solidFill>
                <a:latin typeface="DM Sans" pitchFamily="34" charset="0"/>
                <a:ea typeface="DM Sans" pitchFamily="34" charset="-122"/>
                <a:cs typeface="DM Sans" pitchFamily="34" charset="-120"/>
              </a:rPr>
              <a:t>From one sentence to a submitted application.</a:t>
            </a:r>
            <a:endParaRPr lang="en-US" sz="4000" dirty="0"/>
          </a:p>
        </p:txBody>
      </p:sp>
      <p:sp>
        <p:nvSpPr>
          <p:cNvPr id="4" name="Shape 2"/>
          <p:cNvSpPr/>
          <p:nvPr/>
        </p:nvSpPr>
        <p:spPr>
          <a:xfrm>
            <a:off x="815975" y="2995265"/>
            <a:ext cx="1984970" cy="3046760"/>
          </a:xfrm>
          <a:prstGeom prst="roundRect">
            <a:avLst>
              <a:gd name="adj" fmla="val 6238"/>
            </a:avLst>
          </a:prstGeom>
          <a:solidFill>
            <a:srgbClr val="FFFFFF"/>
          </a:solidFill>
          <a:ln w="6350">
            <a:solidFill>
              <a:srgbClr val="E7E0DE"/>
            </a:solidFill>
            <a:prstDash val="solid"/>
          </a:ln>
        </p:spPr>
      </p:sp>
      <p:sp>
        <p:nvSpPr>
          <p:cNvPr id="5" name="Text 3"/>
          <p:cNvSpPr/>
          <p:nvPr/>
        </p:nvSpPr>
        <p:spPr>
          <a:xfrm>
            <a:off x="1047750" y="3227040"/>
            <a:ext cx="157222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102E"/>
                </a:solidFill>
                <a:latin typeface="DM Sans" pitchFamily="34" charset="0"/>
                <a:ea typeface="DM Sans" pitchFamily="34" charset="-122"/>
                <a:cs typeface="DM Sans" pitchFamily="34" charset="-120"/>
              </a:rPr>
              <a:t>1</a:t>
            </a:r>
            <a:endParaRPr lang="en-US" sz="2800" dirty="0"/>
          </a:p>
        </p:txBody>
      </p:sp>
      <p:sp>
        <p:nvSpPr>
          <p:cNvPr id="6" name="Text 4"/>
          <p:cNvSpPr/>
          <p:nvPr/>
        </p:nvSpPr>
        <p:spPr>
          <a:xfrm>
            <a:off x="1047750" y="3826470"/>
            <a:ext cx="157222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Say it</a:t>
            </a:r>
            <a:endParaRPr lang="en-US" sz="1700" dirty="0"/>
          </a:p>
        </p:txBody>
      </p:sp>
      <p:sp>
        <p:nvSpPr>
          <p:cNvPr id="7" name="Text 5"/>
          <p:cNvSpPr/>
          <p:nvPr/>
        </p:nvSpPr>
        <p:spPr>
          <a:xfrm>
            <a:off x="1047750" y="4187130"/>
            <a:ext cx="157222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Type or speak in your language: "Renew my student visa."</a:t>
            </a:r>
            <a:endParaRPr lang="en-US" sz="1300" dirty="0"/>
          </a:p>
        </p:txBody>
      </p:sp>
      <p:sp>
        <p:nvSpPr>
          <p:cNvPr id="8" name="Shape 6"/>
          <p:cNvSpPr/>
          <p:nvPr/>
        </p:nvSpPr>
        <p:spPr>
          <a:xfrm>
            <a:off x="2959695" y="2995265"/>
            <a:ext cx="1985020" cy="3046760"/>
          </a:xfrm>
          <a:prstGeom prst="roundRect">
            <a:avLst>
              <a:gd name="adj" fmla="val 6238"/>
            </a:avLst>
          </a:prstGeom>
          <a:solidFill>
            <a:srgbClr val="FFFFFF"/>
          </a:solidFill>
          <a:ln w="6350">
            <a:solidFill>
              <a:srgbClr val="E7E0DE"/>
            </a:solidFill>
            <a:prstDash val="solid"/>
          </a:ln>
        </p:spPr>
      </p:sp>
      <p:sp>
        <p:nvSpPr>
          <p:cNvPr id="9" name="Text 7"/>
          <p:cNvSpPr/>
          <p:nvPr/>
        </p:nvSpPr>
        <p:spPr>
          <a:xfrm>
            <a:off x="3191470" y="3227040"/>
            <a:ext cx="157227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102E"/>
                </a:solidFill>
                <a:latin typeface="DM Sans" pitchFamily="34" charset="0"/>
                <a:ea typeface="DM Sans" pitchFamily="34" charset="-122"/>
                <a:cs typeface="DM Sans" pitchFamily="34" charset="-120"/>
              </a:rPr>
              <a:t>2</a:t>
            </a:r>
            <a:endParaRPr lang="en-US" sz="2800" dirty="0"/>
          </a:p>
        </p:txBody>
      </p:sp>
      <p:sp>
        <p:nvSpPr>
          <p:cNvPr id="10" name="Text 8"/>
          <p:cNvSpPr/>
          <p:nvPr/>
        </p:nvSpPr>
        <p:spPr>
          <a:xfrm>
            <a:off x="3191470" y="3826470"/>
            <a:ext cx="1572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Prefilled</a:t>
            </a:r>
            <a:endParaRPr lang="en-US" sz="1700" dirty="0"/>
          </a:p>
        </p:txBody>
      </p:sp>
      <p:sp>
        <p:nvSpPr>
          <p:cNvPr id="11" name="Text 9"/>
          <p:cNvSpPr/>
          <p:nvPr/>
        </p:nvSpPr>
        <p:spPr>
          <a:xfrm>
            <a:off x="3191470" y="4187130"/>
            <a:ext cx="15722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Your data from ID Austria is reused to fill the right form.</a:t>
            </a:r>
            <a:endParaRPr lang="en-US" sz="1300" dirty="0"/>
          </a:p>
        </p:txBody>
      </p:sp>
      <p:sp>
        <p:nvSpPr>
          <p:cNvPr id="12" name="Shape 10"/>
          <p:cNvSpPr/>
          <p:nvPr/>
        </p:nvSpPr>
        <p:spPr>
          <a:xfrm>
            <a:off x="5103465" y="2995265"/>
            <a:ext cx="1985020" cy="3046760"/>
          </a:xfrm>
          <a:prstGeom prst="roundRect">
            <a:avLst>
              <a:gd name="adj" fmla="val 6238"/>
            </a:avLst>
          </a:prstGeom>
          <a:solidFill>
            <a:srgbClr val="FFFFFF"/>
          </a:solidFill>
          <a:ln w="6350">
            <a:solidFill>
              <a:srgbClr val="E7E0DE"/>
            </a:solidFill>
            <a:prstDash val="solid"/>
          </a:ln>
        </p:spPr>
      </p:sp>
      <p:sp>
        <p:nvSpPr>
          <p:cNvPr id="13" name="Text 11"/>
          <p:cNvSpPr/>
          <p:nvPr/>
        </p:nvSpPr>
        <p:spPr>
          <a:xfrm>
            <a:off x="5335240" y="3227040"/>
            <a:ext cx="157227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102E"/>
                </a:solidFill>
                <a:latin typeface="DM Sans" pitchFamily="34" charset="0"/>
                <a:ea typeface="DM Sans" pitchFamily="34" charset="-122"/>
                <a:cs typeface="DM Sans" pitchFamily="34" charset="-120"/>
              </a:rPr>
              <a:t>3</a:t>
            </a:r>
            <a:endParaRPr lang="en-US" sz="2800" dirty="0"/>
          </a:p>
        </p:txBody>
      </p:sp>
      <p:sp>
        <p:nvSpPr>
          <p:cNvPr id="14" name="Text 12"/>
          <p:cNvSpPr/>
          <p:nvPr/>
        </p:nvSpPr>
        <p:spPr>
          <a:xfrm>
            <a:off x="5335240" y="3826470"/>
            <a:ext cx="1572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Review</a:t>
            </a:r>
            <a:endParaRPr lang="en-US" sz="1700" dirty="0"/>
          </a:p>
        </p:txBody>
      </p:sp>
      <p:sp>
        <p:nvSpPr>
          <p:cNvPr id="15" name="Text 13"/>
          <p:cNvSpPr/>
          <p:nvPr/>
        </p:nvSpPr>
        <p:spPr>
          <a:xfrm>
            <a:off x="5335240" y="4187130"/>
            <a:ext cx="157227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Check the details, add what is missing, attach documents.</a:t>
            </a:r>
            <a:endParaRPr lang="en-US" sz="1300" dirty="0"/>
          </a:p>
        </p:txBody>
      </p:sp>
      <p:sp>
        <p:nvSpPr>
          <p:cNvPr id="16" name="Shape 14"/>
          <p:cNvSpPr/>
          <p:nvPr/>
        </p:nvSpPr>
        <p:spPr>
          <a:xfrm>
            <a:off x="7247235" y="2995265"/>
            <a:ext cx="1985020" cy="3046760"/>
          </a:xfrm>
          <a:prstGeom prst="roundRect">
            <a:avLst>
              <a:gd name="adj" fmla="val 6238"/>
            </a:avLst>
          </a:prstGeom>
          <a:solidFill>
            <a:srgbClr val="FFFFFF"/>
          </a:solidFill>
          <a:ln w="6350">
            <a:solidFill>
              <a:srgbClr val="E7E0DE"/>
            </a:solidFill>
            <a:prstDash val="solid"/>
          </a:ln>
        </p:spPr>
      </p:sp>
      <p:sp>
        <p:nvSpPr>
          <p:cNvPr id="17" name="Text 15"/>
          <p:cNvSpPr/>
          <p:nvPr/>
        </p:nvSpPr>
        <p:spPr>
          <a:xfrm>
            <a:off x="7479010" y="3227040"/>
            <a:ext cx="157227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8102E"/>
                </a:solidFill>
                <a:latin typeface="DM Sans" pitchFamily="34" charset="0"/>
                <a:ea typeface="DM Sans" pitchFamily="34" charset="-122"/>
                <a:cs typeface="DM Sans" pitchFamily="34" charset="-120"/>
              </a:rPr>
              <a:t>4</a:t>
            </a:r>
            <a:endParaRPr lang="en-US" sz="2800" dirty="0"/>
          </a:p>
        </p:txBody>
      </p:sp>
      <p:sp>
        <p:nvSpPr>
          <p:cNvPr id="18" name="Text 16"/>
          <p:cNvSpPr/>
          <p:nvPr/>
        </p:nvSpPr>
        <p:spPr>
          <a:xfrm>
            <a:off x="7479010" y="3826470"/>
            <a:ext cx="1572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Confirm</a:t>
            </a:r>
            <a:endParaRPr lang="en-US" sz="1700" dirty="0"/>
          </a:p>
        </p:txBody>
      </p:sp>
      <p:sp>
        <p:nvSpPr>
          <p:cNvPr id="19" name="Text 17"/>
          <p:cNvSpPr/>
          <p:nvPr/>
        </p:nvSpPr>
        <p:spPr>
          <a:xfrm>
            <a:off x="7479010" y="4187130"/>
            <a:ext cx="157227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Sign with ID Austria biometrics — e.g. face recognition.</a:t>
            </a:r>
            <a:endParaRPr lang="en-US" sz="1300" dirty="0"/>
          </a:p>
        </p:txBody>
      </p:sp>
      <p:sp>
        <p:nvSpPr>
          <p:cNvPr id="20" name="Shape 18"/>
          <p:cNvSpPr/>
          <p:nvPr/>
        </p:nvSpPr>
        <p:spPr>
          <a:xfrm>
            <a:off x="9391005" y="2995265"/>
            <a:ext cx="1985020" cy="3046760"/>
          </a:xfrm>
          <a:prstGeom prst="roundRect">
            <a:avLst>
              <a:gd name="adj" fmla="val 6238"/>
            </a:avLst>
          </a:prstGeom>
          <a:solidFill>
            <a:srgbClr val="1B1D24"/>
          </a:solidFill>
          <a:ln w="6350">
            <a:solidFill>
              <a:srgbClr val="1B1D24"/>
            </a:solidFill>
            <a:prstDash val="solid"/>
          </a:ln>
        </p:spPr>
      </p:sp>
      <p:sp>
        <p:nvSpPr>
          <p:cNvPr id="21" name="Text 19"/>
          <p:cNvSpPr/>
          <p:nvPr/>
        </p:nvSpPr>
        <p:spPr>
          <a:xfrm>
            <a:off x="9622780" y="3227040"/>
            <a:ext cx="157227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6B7D"/>
                </a:solidFill>
                <a:latin typeface="DM Sans" pitchFamily="34" charset="0"/>
                <a:ea typeface="DM Sans" pitchFamily="34" charset="-122"/>
                <a:cs typeface="DM Sans" pitchFamily="34" charset="-120"/>
              </a:rPr>
              <a:t>5</a:t>
            </a:r>
            <a:endParaRPr lang="en-US" sz="2800" dirty="0"/>
          </a:p>
        </p:txBody>
      </p:sp>
      <p:sp>
        <p:nvSpPr>
          <p:cNvPr id="22" name="Text 20"/>
          <p:cNvSpPr/>
          <p:nvPr/>
        </p:nvSpPr>
        <p:spPr>
          <a:xfrm>
            <a:off x="9622780" y="3826470"/>
            <a:ext cx="15722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7F6"/>
                </a:solidFill>
                <a:latin typeface="Public Sans" pitchFamily="34" charset="0"/>
                <a:ea typeface="Public Sans" pitchFamily="34" charset="-122"/>
                <a:cs typeface="Public Sans" pitchFamily="34" charset="-120"/>
              </a:rPr>
              <a:t>Done</a:t>
            </a:r>
            <a:endParaRPr lang="en-US" sz="1700" dirty="0"/>
          </a:p>
        </p:txBody>
      </p:sp>
      <p:sp>
        <p:nvSpPr>
          <p:cNvPr id="23" name="Text 21"/>
          <p:cNvSpPr/>
          <p:nvPr/>
        </p:nvSpPr>
        <p:spPr>
          <a:xfrm>
            <a:off x="9622780" y="4187130"/>
            <a:ext cx="1572270"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BD3"/>
                </a:solidFill>
                <a:latin typeface="Public Sans" pitchFamily="34" charset="0"/>
                <a:ea typeface="Public Sans" pitchFamily="34" charset="-122"/>
                <a:cs typeface="Public Sans" pitchFamily="34" charset="-120"/>
              </a:rPr>
              <a:t>Submitted, reference number issued, appointment booked.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CEA"/>
        </a:solidFill>
      </p:bgPr>
    </p:bg>
    <p:spTree>
      <p:nvGrpSpPr>
        <p:cNvPr id="1" name=""/>
        <p:cNvGrpSpPr/>
        <p:nvPr/>
      </p:nvGrpSpPr>
      <p:grpSpPr>
        <a:xfrm>
          <a:off x="0" y="0"/>
          <a:ext cx="0" cy="0"/>
          <a:chOff x="0" y="0"/>
          <a:chExt cx="0" cy="0"/>
        </a:xfrm>
      </p:grpSpPr>
      <p:sp>
        <p:nvSpPr>
          <p:cNvPr id="2" name="Text 0"/>
          <p:cNvSpPr/>
          <p:nvPr/>
        </p:nvSpPr>
        <p:spPr>
          <a:xfrm>
            <a:off x="812800" y="1253530"/>
            <a:ext cx="4055110"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TWO MODES</a:t>
            </a:r>
            <a:endParaRPr lang="en-US" sz="1400" dirty="0"/>
          </a:p>
        </p:txBody>
      </p:sp>
      <p:sp>
        <p:nvSpPr>
          <p:cNvPr id="3" name="Text 1"/>
          <p:cNvSpPr/>
          <p:nvPr>
            <p:ph type="title"/>
          </p:nvPr>
        </p:nvSpPr>
        <p:spPr>
          <a:xfrm>
            <a:off x="812800" y="175642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1B1D24"/>
                </a:solidFill>
                <a:latin typeface="DM Sans" pitchFamily="34" charset="0"/>
                <a:ea typeface="DM Sans" pitchFamily="34" charset="-122"/>
                <a:cs typeface="DM Sans" pitchFamily="34" charset="-120"/>
              </a:rPr>
              <a:t>Ask a question, or let it do the work.</a:t>
            </a:r>
            <a:endParaRPr lang="en-US" sz="3200" dirty="0"/>
          </a:p>
        </p:txBody>
      </p:sp>
      <p:sp>
        <p:nvSpPr>
          <p:cNvPr id="4" name="Shape 2"/>
          <p:cNvSpPr/>
          <p:nvPr/>
        </p:nvSpPr>
        <p:spPr>
          <a:xfrm>
            <a:off x="815975" y="2907655"/>
            <a:ext cx="3930650" cy="1210270"/>
          </a:xfrm>
          <a:prstGeom prst="roundRect">
            <a:avLst>
              <a:gd name="adj" fmla="val 10231"/>
            </a:avLst>
          </a:prstGeom>
          <a:solidFill>
            <a:srgbClr val="FFFFFF"/>
          </a:solidFill>
          <a:ln w="6350">
            <a:solidFill>
              <a:srgbClr val="E7E0DE"/>
            </a:solidFill>
            <a:prstDash val="solid"/>
          </a:ln>
        </p:spPr>
      </p:sp>
      <p:sp>
        <p:nvSpPr>
          <p:cNvPr id="5" name="Text 3"/>
          <p:cNvSpPr/>
          <p:nvPr/>
        </p:nvSpPr>
        <p:spPr>
          <a:xfrm>
            <a:off x="1022350" y="3114030"/>
            <a:ext cx="362343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8102E"/>
                </a:solidFill>
                <a:latin typeface="Public Sans" pitchFamily="34" charset="0"/>
                <a:ea typeface="Public Sans" pitchFamily="34" charset="-122"/>
                <a:cs typeface="Public Sans" pitchFamily="34" charset="-120"/>
              </a:rPr>
              <a:t>Ask</a:t>
            </a:r>
            <a:r>
              <a:rPr lang="en-US" sz="1700" b="1" dirty="0">
                <a:solidFill>
                  <a:srgbClr val="1B1D24"/>
                </a:solidFill>
                <a:latin typeface="Public Sans" pitchFamily="34" charset="0"/>
                <a:ea typeface="Public Sans" pitchFamily="34" charset="-122"/>
                <a:cs typeface="Public Sans" pitchFamily="34" charset="-120"/>
              </a:rPr>
              <a:t> — get answers</a:t>
            </a:r>
            <a:endParaRPr lang="en-US" sz="1700" dirty="0"/>
          </a:p>
        </p:txBody>
      </p:sp>
      <p:sp>
        <p:nvSpPr>
          <p:cNvPr id="6" name="Text 4"/>
          <p:cNvSpPr/>
          <p:nvPr/>
        </p:nvSpPr>
        <p:spPr>
          <a:xfrm>
            <a:off x="1022350" y="3449290"/>
            <a:ext cx="362343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Plain-language guidance on any Austrian public service.</a:t>
            </a:r>
            <a:endParaRPr lang="en-US" sz="1300" dirty="0"/>
          </a:p>
        </p:txBody>
      </p:sp>
      <p:sp>
        <p:nvSpPr>
          <p:cNvPr id="7" name="Shape 5"/>
          <p:cNvSpPr/>
          <p:nvPr/>
        </p:nvSpPr>
        <p:spPr>
          <a:xfrm>
            <a:off x="819150" y="4381450"/>
            <a:ext cx="3924300" cy="1216620"/>
          </a:xfrm>
          <a:prstGeom prst="roundRect">
            <a:avLst>
              <a:gd name="adj" fmla="val 9917"/>
            </a:avLst>
          </a:prstGeom>
          <a:solidFill>
            <a:srgbClr val="FFFFFF"/>
          </a:solidFill>
          <a:ln w="12700">
            <a:solidFill>
              <a:srgbClr val="C8102E"/>
            </a:solidFill>
            <a:prstDash val="solid"/>
          </a:ln>
        </p:spPr>
      </p:sp>
      <p:sp>
        <p:nvSpPr>
          <p:cNvPr id="8" name="Text 6"/>
          <p:cNvSpPr/>
          <p:nvPr/>
        </p:nvSpPr>
        <p:spPr>
          <a:xfrm>
            <a:off x="1028700" y="4591000"/>
            <a:ext cx="36103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C8102E"/>
                </a:solidFill>
                <a:latin typeface="Public Sans" pitchFamily="34" charset="0"/>
                <a:ea typeface="Public Sans" pitchFamily="34" charset="-122"/>
                <a:cs typeface="Public Sans" pitchFamily="34" charset="-120"/>
              </a:rPr>
              <a:t>Get it done</a:t>
            </a:r>
            <a:r>
              <a:rPr lang="en-US" sz="1700" b="1" dirty="0">
                <a:solidFill>
                  <a:srgbClr val="1B1D24"/>
                </a:solidFill>
                <a:latin typeface="Public Sans" pitchFamily="34" charset="0"/>
                <a:ea typeface="Public Sans" pitchFamily="34" charset="-122"/>
                <a:cs typeface="Public Sans" pitchFamily="34" charset="-120"/>
              </a:rPr>
              <a:t> — do it for me</a:t>
            </a:r>
            <a:endParaRPr lang="en-US" sz="1700" dirty="0"/>
          </a:p>
        </p:txBody>
      </p:sp>
      <p:sp>
        <p:nvSpPr>
          <p:cNvPr id="9" name="Text 7"/>
          <p:cNvSpPr/>
          <p:nvPr/>
        </p:nvSpPr>
        <p:spPr>
          <a:xfrm>
            <a:off x="1028700" y="4926261"/>
            <a:ext cx="361035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D57"/>
                </a:solidFill>
                <a:latin typeface="Public Sans" pitchFamily="34" charset="0"/>
                <a:ea typeface="Public Sans" pitchFamily="34" charset="-122"/>
                <a:cs typeface="Public Sans" pitchFamily="34" charset="-120"/>
              </a:rPr>
              <a:t>Fills the forms, sends them and books the appointments.</a:t>
            </a:r>
            <a:endParaRPr lang="en-US" sz="1300" dirty="0"/>
          </a:p>
        </p:txBody>
      </p:sp>
      <p:sp>
        <p:nvSpPr>
          <p:cNvPr id="10" name="Shape 8"/>
          <p:cNvSpPr/>
          <p:nvPr/>
        </p:nvSpPr>
        <p:spPr>
          <a:xfrm>
            <a:off x="5257800" y="1508125"/>
            <a:ext cx="6121400" cy="3841750"/>
          </a:xfrm>
          <a:prstGeom prst="roundRect">
            <a:avLst>
              <a:gd name="adj" fmla="val 3306"/>
            </a:avLst>
          </a:prstGeom>
          <a:solidFill>
            <a:srgbClr val="FFFFFF"/>
          </a:solidFill>
          <a:ln/>
          <a:effectLst>
            <a:outerShdw sx="100000" sy="100000" kx="0" ky="0" algn="bl" rotWithShape="0" blurRad="406400" dist="152400" dir="5400000">
              <a:srgbClr val="1B1D24">
                <a:alpha val="14000"/>
              </a:srgbClr>
            </a:outerShdw>
          </a:effectLst>
        </p:spPr>
      </p:sp>
      <p:pic>
        <p:nvPicPr>
          <p:cNvPr id="11" name="Image 0" descr="Amtsweg home screen with Ask and Get it done modes and quick topics: Student visa, Moving, New baby, Passport and ID, Taxes, Car, Health">    </p:cNvPr>
          <p:cNvPicPr>
            <a:picLocks noChangeAspect="1"/>
          </p:cNvPicPr>
          <p:nvPr/>
        </p:nvPicPr>
        <p:blipFill>
          <a:blip r:embed="rId1"/>
          <a:srcRect l="-94" r="-94" t="0" b="0"/>
          <a:stretch/>
        </p:blipFill>
        <p:spPr>
          <a:xfrm>
            <a:off x="5264150" y="1514475"/>
            <a:ext cx="6108700" cy="3829050"/>
          </a:xfrm>
          <a:prstGeom prst="roundRect">
            <a:avLst>
              <a:gd name="adj" fmla="val 3151"/>
            </a:avLst>
          </a:prstGeom>
        </p:spPr>
      </p:pic>
      <p:sp>
        <p:nvSpPr>
          <p:cNvPr id="12" name="Shape 9"/>
          <p:cNvSpPr/>
          <p:nvPr/>
        </p:nvSpPr>
        <p:spPr>
          <a:xfrm>
            <a:off x="5260975" y="1511300"/>
            <a:ext cx="6115050" cy="3835400"/>
          </a:xfrm>
          <a:prstGeom prst="roundRect">
            <a:avLst>
              <a:gd name="adj" fmla="val 3228"/>
            </a:avLst>
          </a:prstGeom>
          <a:noFill/>
          <a:ln w="6350">
            <a:solidFill>
              <a:srgbClr val="E7E0DE"/>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6"/>
        </a:solidFill>
      </p:bgPr>
    </p:bg>
    <p:spTree>
      <p:nvGrpSpPr>
        <p:cNvPr id="1" name=""/>
        <p:cNvGrpSpPr/>
        <p:nvPr/>
      </p:nvGrpSpPr>
      <p:grpSpPr>
        <a:xfrm>
          <a:off x="0" y="0"/>
          <a:ext cx="0" cy="0"/>
          <a:chOff x="0" y="0"/>
          <a:chExt cx="0" cy="0"/>
        </a:xfrm>
      </p:grpSpPr>
      <p:sp>
        <p:nvSpPr>
          <p:cNvPr id="2" name="Shape 0"/>
          <p:cNvSpPr/>
          <p:nvPr/>
        </p:nvSpPr>
        <p:spPr>
          <a:xfrm>
            <a:off x="812800" y="1508125"/>
            <a:ext cx="6121400" cy="3841750"/>
          </a:xfrm>
          <a:prstGeom prst="roundRect">
            <a:avLst>
              <a:gd name="adj" fmla="val 3306"/>
            </a:avLst>
          </a:prstGeom>
          <a:solidFill>
            <a:srgbClr val="FFFFFF"/>
          </a:solidFill>
          <a:ln/>
          <a:effectLst>
            <a:outerShdw sx="100000" sy="100000" kx="0" ky="0" algn="bl" rotWithShape="0" blurRad="406400" dist="152400" dir="5400000">
              <a:srgbClr val="1B1D24">
                <a:alpha val="14000"/>
              </a:srgbClr>
            </a:outerShdw>
          </a:effectLst>
        </p:spPr>
      </p:sp>
      <p:pic>
        <p:nvPicPr>
          <p:cNvPr id="3" name="Image 0" descr="Amtsweg prepares a residence permit renewal with personal details filled in from ID Austria">    </p:cNvPr>
          <p:cNvPicPr>
            <a:picLocks noChangeAspect="1"/>
          </p:cNvPicPr>
          <p:nvPr/>
        </p:nvPicPr>
        <p:blipFill>
          <a:blip r:embed="rId1"/>
          <a:srcRect l="-94" r="-94" t="0" b="0"/>
          <a:stretch/>
        </p:blipFill>
        <p:spPr>
          <a:xfrm>
            <a:off x="819150" y="1514475"/>
            <a:ext cx="6108700" cy="3829050"/>
          </a:xfrm>
          <a:prstGeom prst="roundRect">
            <a:avLst>
              <a:gd name="adj" fmla="val 3151"/>
            </a:avLst>
          </a:prstGeom>
        </p:spPr>
      </p:pic>
      <p:sp>
        <p:nvSpPr>
          <p:cNvPr id="4" name="Shape 1"/>
          <p:cNvSpPr/>
          <p:nvPr/>
        </p:nvSpPr>
        <p:spPr>
          <a:xfrm>
            <a:off x="815975" y="1511300"/>
            <a:ext cx="6115050" cy="3835400"/>
          </a:xfrm>
          <a:prstGeom prst="roundRect">
            <a:avLst>
              <a:gd name="adj" fmla="val 3228"/>
            </a:avLst>
          </a:prstGeom>
          <a:noFill/>
          <a:ln w="6350">
            <a:solidFill>
              <a:srgbClr val="E7E0DE"/>
            </a:solidFill>
            <a:prstDash val="solid"/>
          </a:ln>
        </p:spPr>
      </p:sp>
      <p:sp>
        <p:nvSpPr>
          <p:cNvPr id="5" name="Text 2"/>
          <p:cNvSpPr/>
          <p:nvPr/>
        </p:nvSpPr>
        <p:spPr>
          <a:xfrm>
            <a:off x="7442200" y="1557089"/>
            <a:ext cx="4055110"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DEMO · STEP 1</a:t>
            </a:r>
            <a:endParaRPr lang="en-US" sz="1400" dirty="0"/>
          </a:p>
        </p:txBody>
      </p:sp>
      <p:sp>
        <p:nvSpPr>
          <p:cNvPr id="6" name="Text 3"/>
          <p:cNvSpPr/>
          <p:nvPr>
            <p:ph type="title"/>
          </p:nvPr>
        </p:nvSpPr>
        <p:spPr>
          <a:xfrm>
            <a:off x="7442200" y="200918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1B1D24"/>
                </a:solidFill>
                <a:latin typeface="DM Sans" pitchFamily="34" charset="0"/>
                <a:ea typeface="DM Sans" pitchFamily="34" charset="-122"/>
                <a:cs typeface="DM Sans" pitchFamily="34" charset="-120"/>
              </a:rPr>
              <a:t>"How do I renew my student visa?"</a:t>
            </a:r>
            <a:endParaRPr lang="en-US" sz="3200" dirty="0"/>
          </a:p>
        </p:txBody>
      </p:sp>
      <p:sp>
        <p:nvSpPr>
          <p:cNvPr id="7" name="Text 4"/>
          <p:cNvSpPr/>
          <p:nvPr/>
        </p:nvSpPr>
        <p:spPr>
          <a:xfrm>
            <a:off x="7442200" y="3106440"/>
            <a:ext cx="4055110"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Amtsweg picks the right service — renewal of the residence permit "Student" at MA 35 — and prefills name, birth date, nationality, passport and address from </a:t>
            </a:r>
            <a:r>
              <a:rPr lang="en-US" sz="1600" b="1" dirty="0">
                <a:solidFill>
                  <a:srgbClr val="4A4D57"/>
                </a:solidFill>
                <a:latin typeface="Public Sans" pitchFamily="34" charset="0"/>
                <a:ea typeface="Public Sans" pitchFamily="34" charset="-122"/>
                <a:cs typeface="Public Sans" pitchFamily="34" charset="-120"/>
              </a:rPr>
              <a:t>ID Austria</a:t>
            </a:r>
            <a:r>
              <a:rPr lang="en-US" sz="1600" dirty="0">
                <a:solidFill>
                  <a:srgbClr val="4A4D57"/>
                </a:solidFill>
                <a:latin typeface="Public Sans" pitchFamily="34" charset="0"/>
                <a:ea typeface="Public Sans" pitchFamily="34" charset="-122"/>
                <a:cs typeface="Public Sans" pitchFamily="34" charset="-120"/>
              </a:rPr>
              <a:t>.</a:t>
            </a:r>
            <a:endParaRPr lang="en-US" sz="1600" dirty="0"/>
          </a:p>
        </p:txBody>
      </p:sp>
      <p:sp>
        <p:nvSpPr>
          <p:cNvPr id="8" name="Text 5"/>
          <p:cNvSpPr/>
          <p:nvPr/>
        </p:nvSpPr>
        <p:spPr>
          <a:xfrm>
            <a:off x="7442200" y="4731941"/>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You only add what the state doesn't already know.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6"/>
        </a:solidFill>
      </p:bgPr>
    </p:bg>
    <p:spTree>
      <p:nvGrpSpPr>
        <p:cNvPr id="1" name=""/>
        <p:cNvGrpSpPr/>
        <p:nvPr/>
      </p:nvGrpSpPr>
      <p:grpSpPr>
        <a:xfrm>
          <a:off x="0" y="0"/>
          <a:ext cx="0" cy="0"/>
          <a:chOff x="0" y="0"/>
          <a:chExt cx="0" cy="0"/>
        </a:xfrm>
      </p:grpSpPr>
      <p:sp>
        <p:nvSpPr>
          <p:cNvPr id="2" name="Shape 0"/>
          <p:cNvSpPr/>
          <p:nvPr/>
        </p:nvSpPr>
        <p:spPr>
          <a:xfrm>
            <a:off x="812800" y="1508125"/>
            <a:ext cx="6121400" cy="3841750"/>
          </a:xfrm>
          <a:prstGeom prst="roundRect">
            <a:avLst>
              <a:gd name="adj" fmla="val 3306"/>
            </a:avLst>
          </a:prstGeom>
          <a:solidFill>
            <a:srgbClr val="FFFFFF"/>
          </a:solidFill>
          <a:ln/>
          <a:effectLst>
            <a:outerShdw sx="100000" sy="100000" kx="0" ky="0" algn="bl" rotWithShape="0" blurRad="406400" dist="152400" dir="5400000">
              <a:srgbClr val="1B1D24">
                <a:alpha val="14000"/>
              </a:srgbClr>
            </a:outerShdw>
          </a:effectLst>
        </p:spPr>
      </p:sp>
      <p:pic>
        <p:nvPicPr>
          <p:cNvPr id="3" name="Image 0" descr="Completed application with all six required documents attached and the Sign and apply button">    </p:cNvPr>
          <p:cNvPicPr>
            <a:picLocks noChangeAspect="1"/>
          </p:cNvPicPr>
          <p:nvPr/>
        </p:nvPicPr>
        <p:blipFill>
          <a:blip r:embed="rId1"/>
          <a:srcRect l="-94" r="-94" t="0" b="0"/>
          <a:stretch/>
        </p:blipFill>
        <p:spPr>
          <a:xfrm>
            <a:off x="819150" y="1514475"/>
            <a:ext cx="6108700" cy="3829050"/>
          </a:xfrm>
          <a:prstGeom prst="roundRect">
            <a:avLst>
              <a:gd name="adj" fmla="val 3151"/>
            </a:avLst>
          </a:prstGeom>
        </p:spPr>
      </p:pic>
      <p:sp>
        <p:nvSpPr>
          <p:cNvPr id="4" name="Shape 1"/>
          <p:cNvSpPr/>
          <p:nvPr/>
        </p:nvSpPr>
        <p:spPr>
          <a:xfrm>
            <a:off x="815975" y="1511300"/>
            <a:ext cx="6115050" cy="3835400"/>
          </a:xfrm>
          <a:prstGeom prst="roundRect">
            <a:avLst>
              <a:gd name="adj" fmla="val 3228"/>
            </a:avLst>
          </a:prstGeom>
          <a:noFill/>
          <a:ln w="6350">
            <a:solidFill>
              <a:srgbClr val="E7E0DE"/>
            </a:solidFill>
            <a:prstDash val="solid"/>
          </a:ln>
        </p:spPr>
      </p:sp>
      <p:sp>
        <p:nvSpPr>
          <p:cNvPr id="5" name="Text 2"/>
          <p:cNvSpPr/>
          <p:nvPr/>
        </p:nvSpPr>
        <p:spPr>
          <a:xfrm>
            <a:off x="7442200" y="1841550"/>
            <a:ext cx="4055110"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DEMO · STEP 2</a:t>
            </a:r>
            <a:endParaRPr lang="en-US" sz="1400" dirty="0"/>
          </a:p>
        </p:txBody>
      </p:sp>
      <p:sp>
        <p:nvSpPr>
          <p:cNvPr id="6" name="Text 3"/>
          <p:cNvSpPr/>
          <p:nvPr>
            <p:ph type="title"/>
          </p:nvPr>
        </p:nvSpPr>
        <p:spPr>
          <a:xfrm>
            <a:off x="7442200" y="2293640"/>
            <a:ext cx="4055110" cy="91946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1B1D24"/>
                </a:solidFill>
                <a:latin typeface="DM Sans" pitchFamily="34" charset="0"/>
                <a:ea typeface="DM Sans" pitchFamily="34" charset="-122"/>
                <a:cs typeface="DM Sans" pitchFamily="34" charset="-120"/>
              </a:rPr>
              <a:t>A checklist instead of a paper chase.</a:t>
            </a:r>
            <a:endParaRPr lang="en-US" sz="3200" dirty="0"/>
          </a:p>
        </p:txBody>
      </p:sp>
      <p:sp>
        <p:nvSpPr>
          <p:cNvPr id="7" name="Text 4"/>
          <p:cNvSpPr/>
          <p:nvPr/>
        </p:nvSpPr>
        <p:spPr>
          <a:xfrm>
            <a:off x="7442200" y="3390900"/>
            <a:ext cx="405511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Every required document is listed and ticked off as you attach it — from passport photo to proof of funds.</a:t>
            </a:r>
            <a:endParaRPr lang="en-US" sz="1600" dirty="0"/>
          </a:p>
        </p:txBody>
      </p:sp>
      <p:sp>
        <p:nvSpPr>
          <p:cNvPr id="8" name="Text 5"/>
          <p:cNvSpPr/>
          <p:nvPr/>
        </p:nvSpPr>
        <p:spPr>
          <a:xfrm>
            <a:off x="7442200" y="44474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Then one button: </a:t>
            </a:r>
            <a:r>
              <a:rPr lang="en-US" sz="1600" b="1" dirty="0">
                <a:solidFill>
                  <a:srgbClr val="4A4D57"/>
                </a:solidFill>
                <a:latin typeface="Public Sans" pitchFamily="34" charset="0"/>
                <a:ea typeface="Public Sans" pitchFamily="34" charset="-122"/>
                <a:cs typeface="Public Sans" pitchFamily="34" charset="-120"/>
              </a:rPr>
              <a:t>Sign &amp; apply</a:t>
            </a:r>
            <a:r>
              <a:rPr lang="en-US" sz="1600" dirty="0">
                <a:solidFill>
                  <a:srgbClr val="4A4D57"/>
                </a:solidFill>
                <a:latin typeface="Public Sans" pitchFamily="34" charset="0"/>
                <a:ea typeface="Public Sans" pitchFamily="34" charset="-122"/>
                <a:cs typeface="Public Sans" pitchFamily="34" charset="-120"/>
              </a:rPr>
              <a:t>, confirmed with your ID Austria biometrics.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6"/>
        </a:solidFill>
      </p:bgPr>
    </p:bg>
    <p:spTree>
      <p:nvGrpSpPr>
        <p:cNvPr id="1" name=""/>
        <p:cNvGrpSpPr/>
        <p:nvPr/>
      </p:nvGrpSpPr>
      <p:grpSpPr>
        <a:xfrm>
          <a:off x="0" y="0"/>
          <a:ext cx="0" cy="0"/>
          <a:chOff x="0" y="0"/>
          <a:chExt cx="0" cy="0"/>
        </a:xfrm>
      </p:grpSpPr>
      <p:sp>
        <p:nvSpPr>
          <p:cNvPr id="2" name="Shape 0"/>
          <p:cNvSpPr/>
          <p:nvPr/>
        </p:nvSpPr>
        <p:spPr>
          <a:xfrm>
            <a:off x="812800" y="1508125"/>
            <a:ext cx="6121400" cy="3841750"/>
          </a:xfrm>
          <a:prstGeom prst="roundRect">
            <a:avLst>
              <a:gd name="adj" fmla="val 3306"/>
            </a:avLst>
          </a:prstGeom>
          <a:solidFill>
            <a:srgbClr val="FFFFFF"/>
          </a:solidFill>
          <a:ln/>
          <a:effectLst>
            <a:outerShdw sx="100000" sy="100000" kx="0" ky="0" algn="bl" rotWithShape="0" blurRad="406400" dist="152400" dir="5400000">
              <a:srgbClr val="1B1D24">
                <a:alpha val="14000"/>
              </a:srgbClr>
            </a:outerShdw>
          </a:effectLst>
        </p:spPr>
      </p:sp>
      <p:pic>
        <p:nvPicPr>
          <p:cNvPr id="3" name="Image 0" descr="Confirmation: application signed with ID Austria and submitted to MA 35 Vienna, with reference number and next steps">    </p:cNvPr>
          <p:cNvPicPr>
            <a:picLocks noChangeAspect="1"/>
          </p:cNvPicPr>
          <p:nvPr/>
        </p:nvPicPr>
        <p:blipFill>
          <a:blip r:embed="rId1"/>
          <a:srcRect l="-94" r="-94" t="0" b="0"/>
          <a:stretch/>
        </p:blipFill>
        <p:spPr>
          <a:xfrm>
            <a:off x="819150" y="1514475"/>
            <a:ext cx="6108700" cy="3829050"/>
          </a:xfrm>
          <a:prstGeom prst="roundRect">
            <a:avLst>
              <a:gd name="adj" fmla="val 3151"/>
            </a:avLst>
          </a:prstGeom>
        </p:spPr>
      </p:pic>
      <p:sp>
        <p:nvSpPr>
          <p:cNvPr id="4" name="Shape 1"/>
          <p:cNvSpPr/>
          <p:nvPr/>
        </p:nvSpPr>
        <p:spPr>
          <a:xfrm>
            <a:off x="815975" y="1511300"/>
            <a:ext cx="6115050" cy="3835400"/>
          </a:xfrm>
          <a:prstGeom prst="roundRect">
            <a:avLst>
              <a:gd name="adj" fmla="val 3228"/>
            </a:avLst>
          </a:prstGeom>
          <a:noFill/>
          <a:ln w="6350">
            <a:solidFill>
              <a:srgbClr val="E7E0DE"/>
            </a:solidFill>
            <a:prstDash val="solid"/>
          </a:ln>
        </p:spPr>
      </p:sp>
      <p:sp>
        <p:nvSpPr>
          <p:cNvPr id="5" name="Text 2"/>
          <p:cNvSpPr/>
          <p:nvPr/>
        </p:nvSpPr>
        <p:spPr>
          <a:xfrm>
            <a:off x="7442200" y="1618059"/>
            <a:ext cx="4055110"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DEMO · STEP 3</a:t>
            </a:r>
            <a:endParaRPr lang="en-US" sz="1400" dirty="0"/>
          </a:p>
        </p:txBody>
      </p:sp>
      <p:sp>
        <p:nvSpPr>
          <p:cNvPr id="6" name="Text 3"/>
          <p:cNvSpPr/>
          <p:nvPr>
            <p:ph type="title"/>
          </p:nvPr>
        </p:nvSpPr>
        <p:spPr>
          <a:xfrm>
            <a:off x="7442200" y="2070150"/>
            <a:ext cx="4055110" cy="1366490"/>
          </a:xfrm>
          <a:prstGeom prst="rect">
            <a:avLst/>
          </a:prstGeom>
          <a:noFill/>
          <a:ln/>
        </p:spPr>
        <p:txBody>
          <a:bodyPr wrap="square" lIns="0" tIns="0" rIns="0" bIns="0" rtlCol="0" anchor="t">
            <a:normAutofit/>
          </a:bodyPr>
          <a:lstStyle/>
          <a:p>
            <a:pPr algn="l" indent="0" marL="0">
              <a:lnSpc>
                <a:spcPts val="3520"/>
              </a:lnSpc>
              <a:buNone/>
            </a:pPr>
            <a:r>
              <a:rPr lang="en-US" sz="3200" b="1" i="0" spc="-100" kern="0" dirty="0">
                <a:solidFill>
                  <a:srgbClr val="1B1D24"/>
                </a:solidFill>
                <a:latin typeface="DM Sans" pitchFamily="34" charset="0"/>
                <a:ea typeface="DM Sans" pitchFamily="34" charset="-122"/>
                <a:cs typeface="DM Sans" pitchFamily="34" charset="-120"/>
              </a:rPr>
              <a:t>Submitted. And you know what comes next.</a:t>
            </a:r>
            <a:endParaRPr lang="en-US" sz="3200" dirty="0"/>
          </a:p>
        </p:txBody>
      </p:sp>
      <p:sp>
        <p:nvSpPr>
          <p:cNvPr id="7" name="Text 4"/>
          <p:cNvSpPr/>
          <p:nvPr/>
        </p:nvSpPr>
        <p:spPr>
          <a:xfrm>
            <a:off x="7442200" y="3614440"/>
            <a:ext cx="4055110"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A reference number, an e-mail confirmation and plain-language next steps — including the biometrics appointment it books for you.</a:t>
            </a:r>
            <a:endParaRPr lang="en-US" sz="1600" dirty="0"/>
          </a:p>
        </p:txBody>
      </p:sp>
      <p:sp>
        <p:nvSpPr>
          <p:cNvPr id="8" name="Text 5"/>
          <p:cNvSpPr/>
          <p:nvPr/>
        </p:nvSpPr>
        <p:spPr>
          <a:xfrm>
            <a:off x="7442200" y="4955480"/>
            <a:ext cx="405511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7"/>
                </a:solidFill>
                <a:latin typeface="Public Sans" pitchFamily="34" charset="0"/>
                <a:ea typeface="Public Sans" pitchFamily="34" charset="-122"/>
                <a:cs typeface="Public Sans" pitchFamily="34" charset="-120"/>
              </a:rPr>
              <a:t>Tracked under </a:t>
            </a:r>
            <a:r>
              <a:rPr lang="en-US" sz="1600" b="1" dirty="0">
                <a:solidFill>
                  <a:srgbClr val="4A4D57"/>
                </a:solidFill>
                <a:latin typeface="Public Sans" pitchFamily="34" charset="0"/>
                <a:ea typeface="Public Sans" pitchFamily="34" charset="-122"/>
                <a:cs typeface="Public Sans" pitchFamily="34" charset="-120"/>
              </a:rPr>
              <a:t>My applications</a:t>
            </a:r>
            <a:r>
              <a:rPr lang="en-US" sz="1600" dirty="0">
                <a:solidFill>
                  <a:srgbClr val="4A4D57"/>
                </a:solidFill>
                <a:latin typeface="Public Sans" pitchFamily="34" charset="0"/>
                <a:ea typeface="Public Sans" pitchFamily="34" charset="-122"/>
                <a:cs typeface="Public Sans" pitchFamily="34" charset="-120"/>
              </a:rPr>
              <a: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D2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6B7D"/>
                </a:solidFill>
                <a:latin typeface="Public Sans" pitchFamily="34" charset="0"/>
                <a:ea typeface="Public Sans" pitchFamily="34" charset="-122"/>
                <a:cs typeface="Public Sans" pitchFamily="34" charset="-120"/>
              </a:rPr>
              <a:t>TRUST BY DESIGN</a:t>
            </a:r>
            <a:endParaRPr lang="en-US" sz="1400" dirty="0"/>
          </a:p>
        </p:txBody>
      </p:sp>
      <p:sp>
        <p:nvSpPr>
          <p:cNvPr id="3" name="Text 1"/>
          <p:cNvSpPr/>
          <p:nvPr>
            <p:ph type="title"/>
          </p:nvPr>
        </p:nvSpPr>
        <p:spPr>
          <a:xfrm>
            <a:off x="812800" y="1468090"/>
            <a:ext cx="9810750" cy="1143000"/>
          </a:xfrm>
          <a:prstGeom prst="rect">
            <a:avLst/>
          </a:prstGeom>
          <a:noFill/>
          <a:ln/>
        </p:spPr>
        <p:txBody>
          <a:bodyPr wrap="square" lIns="0" tIns="0" rIns="0" bIns="0" rtlCol="0" anchor="t">
            <a:normAutofit/>
          </a:bodyPr>
          <a:lstStyle/>
          <a:p>
            <a:pPr algn="l" indent="0" marL="0">
              <a:lnSpc>
                <a:spcPts val="4400"/>
              </a:lnSpc>
              <a:buNone/>
            </a:pPr>
            <a:r>
              <a:rPr lang="en-US" sz="4000" b="1" i="0" spc="-100" kern="0" dirty="0">
                <a:solidFill>
                  <a:srgbClr val="FAF7F6"/>
                </a:solidFill>
                <a:latin typeface="DM Sans" pitchFamily="34" charset="0"/>
                <a:ea typeface="DM Sans" pitchFamily="34" charset="-122"/>
                <a:cs typeface="DM Sans" pitchFamily="34" charset="-120"/>
              </a:rPr>
              <a:t>Nothing is sent until you confirm it's really you.</a:t>
            </a:r>
            <a:endParaRPr lang="en-US" sz="4000" dirty="0"/>
          </a:p>
        </p:txBody>
      </p:sp>
      <p:sp>
        <p:nvSpPr>
          <p:cNvPr id="4" name="Shape 2"/>
          <p:cNvSpPr/>
          <p:nvPr/>
        </p:nvSpPr>
        <p:spPr>
          <a:xfrm>
            <a:off x="812800" y="2992090"/>
            <a:ext cx="3386634" cy="3053110"/>
          </a:xfrm>
          <a:prstGeom prst="roundRect">
            <a:avLst>
              <a:gd name="adj" fmla="val 4160"/>
            </a:avLst>
          </a:prstGeom>
          <a:solidFill>
            <a:srgbClr val="262933"/>
          </a:solidFill>
          <a:ln/>
        </p:spPr>
      </p:sp>
      <p:pic>
        <p:nvPicPr>
          <p:cNvPr id="5" name="Image 0" descr="Verified">    </p:cNvPr>
          <p:cNvPicPr>
            <a:picLocks noChangeAspect="1"/>
          </p:cNvPicPr>
          <p:nvPr/>
        </p:nvPicPr>
        <p:blipFill>
          <a:blip r:embed="rId1"/>
          <a:srcRect l="0" r="0" t="0" b="0"/>
          <a:stretch/>
        </p:blipFill>
        <p:spPr>
          <a:xfrm>
            <a:off x="1092200" y="3271490"/>
            <a:ext cx="355600" cy="355600"/>
          </a:xfrm>
          <a:prstGeom prst="rect">
            <a:avLst/>
          </a:prstGeom>
        </p:spPr>
      </p:pic>
      <p:sp>
        <p:nvSpPr>
          <p:cNvPr id="6" name="Text 3"/>
          <p:cNvSpPr/>
          <p:nvPr/>
        </p:nvSpPr>
        <p:spPr>
          <a:xfrm>
            <a:off x="1092200" y="3754090"/>
            <a:ext cx="291266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AF7F6"/>
                </a:solidFill>
                <a:latin typeface="Public Sans" pitchFamily="34" charset="0"/>
                <a:ea typeface="Public Sans" pitchFamily="34" charset="-122"/>
                <a:cs typeface="Public Sans" pitchFamily="34" charset="-120"/>
              </a:rPr>
              <a:t>Built on ID Austria</a:t>
            </a:r>
            <a:endParaRPr lang="en-US" sz="1900" dirty="0"/>
          </a:p>
        </p:txBody>
      </p:sp>
      <p:sp>
        <p:nvSpPr>
          <p:cNvPr id="7" name="Text 4"/>
          <p:cNvSpPr/>
          <p:nvPr/>
        </p:nvSpPr>
        <p:spPr>
          <a:xfrm>
            <a:off x="1092200" y="4170611"/>
            <a:ext cx="291266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BD3"/>
                </a:solidFill>
                <a:latin typeface="Public Sans" pitchFamily="34" charset="0"/>
                <a:ea typeface="Public Sans" pitchFamily="34" charset="-122"/>
                <a:cs typeface="Public Sans" pitchFamily="34" charset="-120"/>
              </a:rPr>
              <a:t>Identity and personal data come from the official digital ID — verified, not typed.</a:t>
            </a:r>
            <a:endParaRPr lang="en-US" sz="1400" dirty="0"/>
          </a:p>
        </p:txBody>
      </p:sp>
      <p:sp>
        <p:nvSpPr>
          <p:cNvPr id="8" name="Shape 5"/>
          <p:cNvSpPr/>
          <p:nvPr/>
        </p:nvSpPr>
        <p:spPr>
          <a:xfrm>
            <a:off x="4402634" y="2992090"/>
            <a:ext cx="3386683" cy="3053110"/>
          </a:xfrm>
          <a:prstGeom prst="roundRect">
            <a:avLst>
              <a:gd name="adj" fmla="val 4160"/>
            </a:avLst>
          </a:prstGeom>
          <a:solidFill>
            <a:srgbClr val="262933"/>
          </a:solidFill>
          <a:ln/>
        </p:spPr>
      </p:sp>
      <p:pic>
        <p:nvPicPr>
          <p:cNvPr id="9" name="Image 1" descr="Lock">    </p:cNvPr>
          <p:cNvPicPr>
            <a:picLocks noChangeAspect="1"/>
          </p:cNvPicPr>
          <p:nvPr/>
        </p:nvPicPr>
        <p:blipFill>
          <a:blip r:embed="rId2"/>
          <a:srcRect l="0" r="0" t="0" b="0"/>
          <a:stretch/>
        </p:blipFill>
        <p:spPr>
          <a:xfrm>
            <a:off x="4682034" y="3271490"/>
            <a:ext cx="355600" cy="355600"/>
          </a:xfrm>
          <a:prstGeom prst="rect">
            <a:avLst/>
          </a:prstGeom>
        </p:spPr>
      </p:pic>
      <p:sp>
        <p:nvSpPr>
          <p:cNvPr id="10" name="Text 6"/>
          <p:cNvSpPr/>
          <p:nvPr/>
        </p:nvSpPr>
        <p:spPr>
          <a:xfrm>
            <a:off x="4682034" y="3754090"/>
            <a:ext cx="291272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AF7F6"/>
                </a:solidFill>
                <a:latin typeface="Public Sans" pitchFamily="34" charset="0"/>
                <a:ea typeface="Public Sans" pitchFamily="34" charset="-122"/>
                <a:cs typeface="Public Sans" pitchFamily="34" charset="-120"/>
              </a:rPr>
              <a:t>Biometric final check</a:t>
            </a:r>
            <a:endParaRPr lang="en-US" sz="1900" dirty="0"/>
          </a:p>
        </p:txBody>
      </p:sp>
      <p:sp>
        <p:nvSpPr>
          <p:cNvPr id="11" name="Text 7"/>
          <p:cNvSpPr/>
          <p:nvPr/>
        </p:nvSpPr>
        <p:spPr>
          <a:xfrm>
            <a:off x="4682034" y="4170611"/>
            <a:ext cx="291272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BD3"/>
                </a:solidFill>
                <a:latin typeface="Public Sans" pitchFamily="34" charset="0"/>
                <a:ea typeface="Public Sans" pitchFamily="34" charset="-122"/>
                <a:cs typeface="Public Sans" pitchFamily="34" charset="-120"/>
              </a:rPr>
              <a:t>Every submission and every appointment is confirmed with ID Austria biometrics, such as face recognition.</a:t>
            </a:r>
            <a:endParaRPr lang="en-US" sz="1400" dirty="0"/>
          </a:p>
        </p:txBody>
      </p:sp>
      <p:sp>
        <p:nvSpPr>
          <p:cNvPr id="12" name="Shape 8"/>
          <p:cNvSpPr/>
          <p:nvPr/>
        </p:nvSpPr>
        <p:spPr>
          <a:xfrm>
            <a:off x="7992517" y="2992090"/>
            <a:ext cx="3386683" cy="3053110"/>
          </a:xfrm>
          <a:prstGeom prst="roundRect">
            <a:avLst>
              <a:gd name="adj" fmla="val 4160"/>
            </a:avLst>
          </a:prstGeom>
          <a:solidFill>
            <a:srgbClr val="262933"/>
          </a:solidFill>
          <a:ln/>
        </p:spPr>
      </p:sp>
      <p:pic>
        <p:nvPicPr>
          <p:cNvPr id="13" name="Image 2" descr="Users">    </p:cNvPr>
          <p:cNvPicPr>
            <a:picLocks noChangeAspect="1"/>
          </p:cNvPicPr>
          <p:nvPr/>
        </p:nvPicPr>
        <p:blipFill>
          <a:blip r:embed="rId3"/>
          <a:srcRect l="0" r="0" t="0" b="0"/>
          <a:stretch/>
        </p:blipFill>
        <p:spPr>
          <a:xfrm>
            <a:off x="8271917" y="3271490"/>
            <a:ext cx="355600" cy="355600"/>
          </a:xfrm>
          <a:prstGeom prst="rect">
            <a:avLst/>
          </a:prstGeom>
        </p:spPr>
      </p:pic>
      <p:sp>
        <p:nvSpPr>
          <p:cNvPr id="14" name="Text 9"/>
          <p:cNvSpPr/>
          <p:nvPr/>
        </p:nvSpPr>
        <p:spPr>
          <a:xfrm>
            <a:off x="8271917" y="3754090"/>
            <a:ext cx="2912720"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AF7F6"/>
                </a:solidFill>
                <a:latin typeface="Public Sans" pitchFamily="34" charset="0"/>
                <a:ea typeface="Public Sans" pitchFamily="34" charset="-122"/>
                <a:cs typeface="Public Sans" pitchFamily="34" charset="-120"/>
              </a:rPr>
              <a:t>You stay in control</a:t>
            </a:r>
            <a:endParaRPr lang="en-US" sz="1900" dirty="0"/>
          </a:p>
        </p:txBody>
      </p:sp>
      <p:sp>
        <p:nvSpPr>
          <p:cNvPr id="15" name="Text 10"/>
          <p:cNvSpPr/>
          <p:nvPr/>
        </p:nvSpPr>
        <p:spPr>
          <a:xfrm>
            <a:off x="8271917" y="4170611"/>
            <a:ext cx="291272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BD3"/>
                </a:solidFill>
                <a:latin typeface="Public Sans" pitchFamily="34" charset="0"/>
                <a:ea typeface="Public Sans" pitchFamily="34" charset="-122"/>
                <a:cs typeface="Public Sans" pitchFamily="34" charset="-120"/>
              </a:rPr>
              <a:t>The AI prepares; you review and decide. Every step is visible before it is sent.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C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FOR EVERYONE</a:t>
            </a:r>
            <a:endParaRPr lang="en-US" sz="1400" dirty="0"/>
          </a:p>
        </p:txBody>
      </p:sp>
      <p:sp>
        <p:nvSpPr>
          <p:cNvPr id="3" name="Text 1"/>
          <p:cNvSpPr/>
          <p:nvPr>
            <p:ph type="title"/>
          </p:nvPr>
        </p:nvSpPr>
        <p:spPr>
          <a:xfrm>
            <a:off x="812800" y="1468090"/>
            <a:ext cx="9810750" cy="584200"/>
          </a:xfrm>
          <a:prstGeom prst="rect">
            <a:avLst/>
          </a:prstGeom>
          <a:noFill/>
          <a:ln/>
        </p:spPr>
        <p:txBody>
          <a:bodyPr wrap="square" lIns="0" tIns="0" rIns="0" bIns="0" rtlCol="0" anchor="t">
            <a:normAutofit/>
          </a:bodyPr>
          <a:lstStyle/>
          <a:p>
            <a:pPr algn="l" indent="0" marL="0">
              <a:lnSpc>
                <a:spcPts val="4400"/>
              </a:lnSpc>
              <a:buNone/>
            </a:pPr>
            <a:r>
              <a:rPr lang="en-US" sz="4000" b="1" i="0" spc="-100" kern="0" dirty="0">
                <a:solidFill>
                  <a:srgbClr val="1B1D24"/>
                </a:solidFill>
                <a:latin typeface="DM Sans" pitchFamily="34" charset="0"/>
                <a:ea typeface="DM Sans" pitchFamily="34" charset="-122"/>
                <a:cs typeface="DM Sans" pitchFamily="34" charset="-120"/>
              </a:rPr>
              <a:t>Built for every resident, from 16 to 80+.</a:t>
            </a:r>
            <a:endParaRPr lang="en-US" sz="4000" dirty="0"/>
          </a:p>
        </p:txBody>
      </p:sp>
      <p:sp>
        <p:nvSpPr>
          <p:cNvPr id="4" name="Shape 2"/>
          <p:cNvSpPr/>
          <p:nvPr/>
        </p:nvSpPr>
        <p:spPr>
          <a:xfrm>
            <a:off x="815975" y="2436465"/>
            <a:ext cx="3380284" cy="3605560"/>
          </a:xfrm>
          <a:prstGeom prst="roundRect">
            <a:avLst>
              <a:gd name="adj" fmla="val 3663"/>
            </a:avLst>
          </a:prstGeom>
          <a:solidFill>
            <a:srgbClr val="FFFFFF"/>
          </a:solidFill>
          <a:ln w="6350">
            <a:solidFill>
              <a:srgbClr val="E7E0DE"/>
            </a:solidFill>
            <a:prstDash val="solid"/>
          </a:ln>
        </p:spPr>
      </p:sp>
      <p:pic>
        <p:nvPicPr>
          <p:cNvPr id="5" name="Image 0" descr="Globe">    </p:cNvPr>
          <p:cNvPicPr>
            <a:picLocks noChangeAspect="1"/>
          </p:cNvPicPr>
          <p:nvPr/>
        </p:nvPicPr>
        <p:blipFill>
          <a:blip r:embed="rId1"/>
          <a:srcRect l="0" r="0" t="0" b="0"/>
          <a:stretch/>
        </p:blipFill>
        <p:spPr>
          <a:xfrm>
            <a:off x="1098550" y="2719040"/>
            <a:ext cx="355600" cy="355600"/>
          </a:xfrm>
          <a:prstGeom prst="rect">
            <a:avLst/>
          </a:prstGeom>
        </p:spPr>
      </p:pic>
      <p:sp>
        <p:nvSpPr>
          <p:cNvPr id="6" name="Text 3"/>
          <p:cNvSpPr/>
          <p:nvPr/>
        </p:nvSpPr>
        <p:spPr>
          <a:xfrm>
            <a:off x="1098550" y="3201640"/>
            <a:ext cx="289958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D24"/>
                </a:solidFill>
                <a:latin typeface="Public Sans" pitchFamily="34" charset="0"/>
                <a:ea typeface="Public Sans" pitchFamily="34" charset="-122"/>
                <a:cs typeface="Public Sans" pitchFamily="34" charset="-120"/>
              </a:rPr>
              <a:t>Your language</a:t>
            </a:r>
            <a:endParaRPr lang="en-US" sz="1900" dirty="0"/>
          </a:p>
        </p:txBody>
      </p:sp>
      <p:sp>
        <p:nvSpPr>
          <p:cNvPr id="7" name="Text 4"/>
          <p:cNvSpPr/>
          <p:nvPr/>
        </p:nvSpPr>
        <p:spPr>
          <a:xfrm>
            <a:off x="1098550" y="3618161"/>
            <a:ext cx="289958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Talk to it in your own language; official forms are still filed correctly in German.</a:t>
            </a:r>
            <a:endParaRPr lang="en-US" sz="1400" dirty="0"/>
          </a:p>
        </p:txBody>
      </p:sp>
      <p:sp>
        <p:nvSpPr>
          <p:cNvPr id="8" name="Shape 5"/>
          <p:cNvSpPr/>
          <p:nvPr/>
        </p:nvSpPr>
        <p:spPr>
          <a:xfrm>
            <a:off x="4405809" y="2436465"/>
            <a:ext cx="3380333" cy="3605560"/>
          </a:xfrm>
          <a:prstGeom prst="roundRect">
            <a:avLst>
              <a:gd name="adj" fmla="val 3663"/>
            </a:avLst>
          </a:prstGeom>
          <a:solidFill>
            <a:srgbClr val="FFFFFF"/>
          </a:solidFill>
          <a:ln w="6350">
            <a:solidFill>
              <a:srgbClr val="E7E0DE"/>
            </a:solidFill>
            <a:prstDash val="solid"/>
          </a:ln>
        </p:spPr>
      </p:sp>
      <p:pic>
        <p:nvPicPr>
          <p:cNvPr id="9" name="Image 1" descr="Chat">    </p:cNvPr>
          <p:cNvPicPr>
            <a:picLocks noChangeAspect="1"/>
          </p:cNvPicPr>
          <p:nvPr/>
        </p:nvPicPr>
        <p:blipFill>
          <a:blip r:embed="rId2"/>
          <a:srcRect l="0" r="0" t="0" b="0"/>
          <a:stretch/>
        </p:blipFill>
        <p:spPr>
          <a:xfrm>
            <a:off x="4688384" y="2719040"/>
            <a:ext cx="355600" cy="355600"/>
          </a:xfrm>
          <a:prstGeom prst="rect">
            <a:avLst/>
          </a:prstGeom>
        </p:spPr>
      </p:pic>
      <p:sp>
        <p:nvSpPr>
          <p:cNvPr id="10" name="Text 6"/>
          <p:cNvSpPr/>
          <p:nvPr/>
        </p:nvSpPr>
        <p:spPr>
          <a:xfrm>
            <a:off x="4688384" y="3201640"/>
            <a:ext cx="289963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D24"/>
                </a:solidFill>
                <a:latin typeface="Public Sans" pitchFamily="34" charset="0"/>
                <a:ea typeface="Public Sans" pitchFamily="34" charset="-122"/>
                <a:cs typeface="Public Sans" pitchFamily="34" charset="-120"/>
              </a:rPr>
              <a:t>Just speak</a:t>
            </a:r>
            <a:endParaRPr lang="en-US" sz="1900" dirty="0"/>
          </a:p>
        </p:txBody>
      </p:sp>
      <p:sp>
        <p:nvSpPr>
          <p:cNvPr id="11" name="Text 7"/>
          <p:cNvSpPr/>
          <p:nvPr/>
        </p:nvSpPr>
        <p:spPr>
          <a:xfrm>
            <a:off x="4688384" y="3618161"/>
            <a:ext cx="289963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Speech-to-text means no typing needed — ideal for seniors and on the go.</a:t>
            </a:r>
            <a:endParaRPr lang="en-US" sz="1400" dirty="0"/>
          </a:p>
        </p:txBody>
      </p:sp>
      <p:sp>
        <p:nvSpPr>
          <p:cNvPr id="12" name="Shape 8"/>
          <p:cNvSpPr/>
          <p:nvPr/>
        </p:nvSpPr>
        <p:spPr>
          <a:xfrm>
            <a:off x="7995692" y="2436465"/>
            <a:ext cx="3380333" cy="3605560"/>
          </a:xfrm>
          <a:prstGeom prst="roundRect">
            <a:avLst>
              <a:gd name="adj" fmla="val 3663"/>
            </a:avLst>
          </a:prstGeom>
          <a:solidFill>
            <a:srgbClr val="FFFFFF"/>
          </a:solidFill>
          <a:ln w="6350">
            <a:solidFill>
              <a:srgbClr val="E7E0DE"/>
            </a:solidFill>
            <a:prstDash val="solid"/>
          </a:ln>
        </p:spPr>
      </p:sp>
      <p:pic>
        <p:nvPicPr>
          <p:cNvPr id="13" name="Image 2" descr="Lightning">    </p:cNvPr>
          <p:cNvPicPr>
            <a:picLocks noChangeAspect="1"/>
          </p:cNvPicPr>
          <p:nvPr/>
        </p:nvPicPr>
        <p:blipFill>
          <a:blip r:embed="rId3"/>
          <a:srcRect l="0" r="0" t="0" b="0"/>
          <a:stretch/>
        </p:blipFill>
        <p:spPr>
          <a:xfrm>
            <a:off x="8278267" y="2719040"/>
            <a:ext cx="355600" cy="355600"/>
          </a:xfrm>
          <a:prstGeom prst="rect">
            <a:avLst/>
          </a:prstGeom>
        </p:spPr>
      </p:pic>
      <p:sp>
        <p:nvSpPr>
          <p:cNvPr id="14" name="Text 9"/>
          <p:cNvSpPr/>
          <p:nvPr/>
        </p:nvSpPr>
        <p:spPr>
          <a:xfrm>
            <a:off x="8278267" y="3201640"/>
            <a:ext cx="2899639"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B1D24"/>
                </a:solidFill>
                <a:latin typeface="Public Sans" pitchFamily="34" charset="0"/>
                <a:ea typeface="Public Sans" pitchFamily="34" charset="-122"/>
                <a:cs typeface="Public Sans" pitchFamily="34" charset="-120"/>
              </a:rPr>
              <a:t>Do it for me</a:t>
            </a:r>
            <a:endParaRPr lang="en-US" sz="1900" dirty="0"/>
          </a:p>
        </p:txBody>
      </p:sp>
      <p:sp>
        <p:nvSpPr>
          <p:cNvPr id="15" name="Text 10"/>
          <p:cNvSpPr/>
          <p:nvPr/>
        </p:nvSpPr>
        <p:spPr>
          <a:xfrm>
            <a:off x="8278267" y="3618161"/>
            <a:ext cx="289963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D57"/>
                </a:solidFill>
                <a:latin typeface="Public Sans" pitchFamily="34" charset="0"/>
                <a:ea typeface="Public Sans" pitchFamily="34" charset="-122"/>
                <a:cs typeface="Public Sans" pitchFamily="34" charset="-120"/>
              </a:rPr>
              <a:t>One tap fills, sends and books appointments — no portals, no queues.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8102E"/>
                </a:solidFill>
                <a:latin typeface="Public Sans" pitchFamily="34" charset="0"/>
                <a:ea typeface="Public Sans" pitchFamily="34" charset="-122"/>
                <a:cs typeface="Public Sans" pitchFamily="34" charset="-120"/>
              </a:rPr>
              <a:t>A COMPANION FOR LIFE</a:t>
            </a:r>
            <a:endParaRPr lang="en-US" sz="1400" dirty="0"/>
          </a:p>
        </p:txBody>
      </p:sp>
      <p:sp>
        <p:nvSpPr>
          <p:cNvPr id="3" name="Text 1"/>
          <p:cNvSpPr/>
          <p:nvPr>
            <p:ph type="title"/>
          </p:nvPr>
        </p:nvSpPr>
        <p:spPr>
          <a:xfrm>
            <a:off x="812800" y="1468090"/>
            <a:ext cx="9810750" cy="584200"/>
          </a:xfrm>
          <a:prstGeom prst="rect">
            <a:avLst/>
          </a:prstGeom>
          <a:noFill/>
          <a:ln/>
        </p:spPr>
        <p:txBody>
          <a:bodyPr wrap="square" lIns="0" tIns="0" rIns="0" bIns="0" rtlCol="0" anchor="t">
            <a:normAutofit/>
          </a:bodyPr>
          <a:lstStyle/>
          <a:p>
            <a:pPr algn="l" indent="0" marL="0">
              <a:lnSpc>
                <a:spcPts val="4400"/>
              </a:lnSpc>
              <a:buNone/>
            </a:pPr>
            <a:r>
              <a:rPr lang="en-US" sz="4000" b="1" i="0" spc="-100" kern="0" dirty="0">
                <a:solidFill>
                  <a:srgbClr val="1B1D24"/>
                </a:solidFill>
                <a:latin typeface="DM Sans" pitchFamily="34" charset="0"/>
                <a:ea typeface="DM Sans" pitchFamily="34" charset="-122"/>
                <a:cs typeface="DM Sans" pitchFamily="34" charset="-120"/>
              </a:rPr>
              <a:t>One clerk for every life event.</a:t>
            </a:r>
            <a:endParaRPr lang="en-US" sz="4000" dirty="0"/>
          </a:p>
        </p:txBody>
      </p:sp>
      <p:sp>
        <p:nvSpPr>
          <p:cNvPr id="4" name="Shape 2"/>
          <p:cNvSpPr/>
          <p:nvPr/>
        </p:nvSpPr>
        <p:spPr>
          <a:xfrm>
            <a:off x="815975" y="2436465"/>
            <a:ext cx="2520950" cy="1149251"/>
          </a:xfrm>
          <a:prstGeom prst="roundRect">
            <a:avLst>
              <a:gd name="adj" fmla="val 10774"/>
            </a:avLst>
          </a:prstGeom>
          <a:solidFill>
            <a:srgbClr val="FFFFFF"/>
          </a:solidFill>
          <a:ln w="6350">
            <a:solidFill>
              <a:srgbClr val="E7E0DE"/>
            </a:solidFill>
            <a:prstDash val="solid"/>
          </a:ln>
        </p:spPr>
      </p:sp>
      <p:sp>
        <p:nvSpPr>
          <p:cNvPr id="5" name="Text 3"/>
          <p:cNvSpPr/>
          <p:nvPr/>
        </p:nvSpPr>
        <p:spPr>
          <a:xfrm>
            <a:off x="1022350" y="264284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First ID</a:t>
            </a:r>
            <a:endParaRPr lang="en-US" sz="1700" dirty="0"/>
          </a:p>
        </p:txBody>
      </p:sp>
      <p:sp>
        <p:nvSpPr>
          <p:cNvPr id="6" name="Text 4"/>
          <p:cNvSpPr/>
          <p:nvPr/>
        </p:nvSpPr>
        <p:spPr>
          <a:xfrm>
            <a:off x="1022350" y="2952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Turning 16 · ID card, passport</a:t>
            </a:r>
            <a:endParaRPr lang="en-US" sz="1200" dirty="0"/>
          </a:p>
        </p:txBody>
      </p:sp>
      <p:sp>
        <p:nvSpPr>
          <p:cNvPr id="7" name="Shape 5"/>
          <p:cNvSpPr/>
          <p:nvPr/>
        </p:nvSpPr>
        <p:spPr>
          <a:xfrm>
            <a:off x="3495675" y="2436465"/>
            <a:ext cx="2520950" cy="1149251"/>
          </a:xfrm>
          <a:prstGeom prst="roundRect">
            <a:avLst>
              <a:gd name="adj" fmla="val 10774"/>
            </a:avLst>
          </a:prstGeom>
          <a:solidFill>
            <a:srgbClr val="FFFFFF"/>
          </a:solidFill>
          <a:ln w="6350">
            <a:solidFill>
              <a:srgbClr val="E7E0DE"/>
            </a:solidFill>
            <a:prstDash val="solid"/>
          </a:ln>
        </p:spPr>
      </p:sp>
      <p:sp>
        <p:nvSpPr>
          <p:cNvPr id="8" name="Text 6"/>
          <p:cNvSpPr/>
          <p:nvPr/>
        </p:nvSpPr>
        <p:spPr>
          <a:xfrm>
            <a:off x="3702050" y="264284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Studies</a:t>
            </a:r>
            <a:endParaRPr lang="en-US" sz="1700" dirty="0"/>
          </a:p>
        </p:txBody>
      </p:sp>
      <p:sp>
        <p:nvSpPr>
          <p:cNvPr id="9" name="Text 7"/>
          <p:cNvSpPr/>
          <p:nvPr/>
        </p:nvSpPr>
        <p:spPr>
          <a:xfrm>
            <a:off x="3702050" y="2952700"/>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Student visa, residence permit</a:t>
            </a:r>
            <a:endParaRPr lang="en-US" sz="1200" dirty="0"/>
          </a:p>
        </p:txBody>
      </p:sp>
      <p:sp>
        <p:nvSpPr>
          <p:cNvPr id="10" name="Shape 8"/>
          <p:cNvSpPr/>
          <p:nvPr/>
        </p:nvSpPr>
        <p:spPr>
          <a:xfrm>
            <a:off x="6175375" y="2436465"/>
            <a:ext cx="2520950" cy="1149251"/>
          </a:xfrm>
          <a:prstGeom prst="roundRect">
            <a:avLst>
              <a:gd name="adj" fmla="val 10774"/>
            </a:avLst>
          </a:prstGeom>
          <a:solidFill>
            <a:srgbClr val="FFFFFF"/>
          </a:solidFill>
          <a:ln w="6350">
            <a:solidFill>
              <a:srgbClr val="E7E0DE"/>
            </a:solidFill>
            <a:prstDash val="solid"/>
          </a:ln>
        </p:spPr>
      </p:sp>
      <p:sp>
        <p:nvSpPr>
          <p:cNvPr id="11" name="Text 9"/>
          <p:cNvSpPr/>
          <p:nvPr/>
        </p:nvSpPr>
        <p:spPr>
          <a:xfrm>
            <a:off x="6381750" y="264284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Moving</a:t>
            </a:r>
            <a:endParaRPr lang="en-US" sz="1700" dirty="0"/>
          </a:p>
        </p:txBody>
      </p:sp>
      <p:sp>
        <p:nvSpPr>
          <p:cNvPr id="12" name="Text 10"/>
          <p:cNvSpPr/>
          <p:nvPr/>
        </p:nvSpPr>
        <p:spPr>
          <a:xfrm>
            <a:off x="6381750" y="2952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Register your new address</a:t>
            </a:r>
            <a:endParaRPr lang="en-US" sz="1200" dirty="0"/>
          </a:p>
        </p:txBody>
      </p:sp>
      <p:sp>
        <p:nvSpPr>
          <p:cNvPr id="13" name="Shape 11"/>
          <p:cNvSpPr/>
          <p:nvPr/>
        </p:nvSpPr>
        <p:spPr>
          <a:xfrm>
            <a:off x="8855075" y="2436465"/>
            <a:ext cx="2520950" cy="1149251"/>
          </a:xfrm>
          <a:prstGeom prst="roundRect">
            <a:avLst>
              <a:gd name="adj" fmla="val 10774"/>
            </a:avLst>
          </a:prstGeom>
          <a:solidFill>
            <a:srgbClr val="FFFFFF"/>
          </a:solidFill>
          <a:ln w="6350">
            <a:solidFill>
              <a:srgbClr val="E7E0DE"/>
            </a:solidFill>
            <a:prstDash val="solid"/>
          </a:ln>
        </p:spPr>
      </p:sp>
      <p:sp>
        <p:nvSpPr>
          <p:cNvPr id="14" name="Text 12"/>
          <p:cNvSpPr/>
          <p:nvPr/>
        </p:nvSpPr>
        <p:spPr>
          <a:xfrm>
            <a:off x="9061450" y="2642840"/>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Car</a:t>
            </a:r>
            <a:endParaRPr lang="en-US" sz="1700" dirty="0"/>
          </a:p>
        </p:txBody>
      </p:sp>
      <p:sp>
        <p:nvSpPr>
          <p:cNvPr id="15" name="Text 13"/>
          <p:cNvSpPr/>
          <p:nvPr/>
        </p:nvSpPr>
        <p:spPr>
          <a:xfrm>
            <a:off x="9061450" y="295270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Licence, registration</a:t>
            </a:r>
            <a:endParaRPr lang="en-US" sz="1200" dirty="0"/>
          </a:p>
        </p:txBody>
      </p:sp>
      <p:sp>
        <p:nvSpPr>
          <p:cNvPr id="16" name="Shape 14"/>
          <p:cNvSpPr/>
          <p:nvPr/>
        </p:nvSpPr>
        <p:spPr>
          <a:xfrm>
            <a:off x="815975" y="3744466"/>
            <a:ext cx="2520950" cy="1149251"/>
          </a:xfrm>
          <a:prstGeom prst="roundRect">
            <a:avLst>
              <a:gd name="adj" fmla="val 10774"/>
            </a:avLst>
          </a:prstGeom>
          <a:solidFill>
            <a:srgbClr val="FFFFFF"/>
          </a:solidFill>
          <a:ln w="6350">
            <a:solidFill>
              <a:srgbClr val="E7E0DE"/>
            </a:solidFill>
            <a:prstDash val="solid"/>
          </a:ln>
        </p:spPr>
      </p:sp>
      <p:sp>
        <p:nvSpPr>
          <p:cNvPr id="17" name="Text 15"/>
          <p:cNvSpPr/>
          <p:nvPr/>
        </p:nvSpPr>
        <p:spPr>
          <a:xfrm>
            <a:off x="1022350" y="3950841"/>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New baby</a:t>
            </a:r>
            <a:endParaRPr lang="en-US" sz="1700" dirty="0"/>
          </a:p>
        </p:txBody>
      </p:sp>
      <p:sp>
        <p:nvSpPr>
          <p:cNvPr id="18" name="Text 16"/>
          <p:cNvSpPr/>
          <p:nvPr/>
        </p:nvSpPr>
        <p:spPr>
          <a:xfrm>
            <a:off x="1022350" y="426070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Birth certificate, family benefits</a:t>
            </a:r>
            <a:endParaRPr lang="en-US" sz="1200" dirty="0"/>
          </a:p>
        </p:txBody>
      </p:sp>
      <p:sp>
        <p:nvSpPr>
          <p:cNvPr id="19" name="Shape 17"/>
          <p:cNvSpPr/>
          <p:nvPr/>
        </p:nvSpPr>
        <p:spPr>
          <a:xfrm>
            <a:off x="3495675" y="3744466"/>
            <a:ext cx="2520950" cy="1149251"/>
          </a:xfrm>
          <a:prstGeom prst="roundRect">
            <a:avLst>
              <a:gd name="adj" fmla="val 10774"/>
            </a:avLst>
          </a:prstGeom>
          <a:solidFill>
            <a:srgbClr val="FFFFFF"/>
          </a:solidFill>
          <a:ln w="6350">
            <a:solidFill>
              <a:srgbClr val="E7E0DE"/>
            </a:solidFill>
            <a:prstDash val="solid"/>
          </a:ln>
        </p:spPr>
      </p:sp>
      <p:sp>
        <p:nvSpPr>
          <p:cNvPr id="20" name="Text 18"/>
          <p:cNvSpPr/>
          <p:nvPr/>
        </p:nvSpPr>
        <p:spPr>
          <a:xfrm>
            <a:off x="3702050" y="3950841"/>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Taxes</a:t>
            </a:r>
            <a:endParaRPr lang="en-US" sz="1700" dirty="0"/>
          </a:p>
        </p:txBody>
      </p:sp>
      <p:sp>
        <p:nvSpPr>
          <p:cNvPr id="21" name="Text 19"/>
          <p:cNvSpPr/>
          <p:nvPr/>
        </p:nvSpPr>
        <p:spPr>
          <a:xfrm>
            <a:off x="3702050" y="426070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Annual tax return</a:t>
            </a:r>
            <a:endParaRPr lang="en-US" sz="1200" dirty="0"/>
          </a:p>
        </p:txBody>
      </p:sp>
      <p:sp>
        <p:nvSpPr>
          <p:cNvPr id="22" name="Shape 20"/>
          <p:cNvSpPr/>
          <p:nvPr/>
        </p:nvSpPr>
        <p:spPr>
          <a:xfrm>
            <a:off x="6175375" y="3744466"/>
            <a:ext cx="2520950" cy="1149251"/>
          </a:xfrm>
          <a:prstGeom prst="roundRect">
            <a:avLst>
              <a:gd name="adj" fmla="val 10774"/>
            </a:avLst>
          </a:prstGeom>
          <a:solidFill>
            <a:srgbClr val="FFFFFF"/>
          </a:solidFill>
          <a:ln w="6350">
            <a:solidFill>
              <a:srgbClr val="E7E0DE"/>
            </a:solidFill>
            <a:prstDash val="solid"/>
          </a:ln>
        </p:spPr>
      </p:sp>
      <p:sp>
        <p:nvSpPr>
          <p:cNvPr id="23" name="Text 21"/>
          <p:cNvSpPr/>
          <p:nvPr/>
        </p:nvSpPr>
        <p:spPr>
          <a:xfrm>
            <a:off x="6381750" y="3950841"/>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1D24"/>
                </a:solidFill>
                <a:latin typeface="Public Sans" pitchFamily="34" charset="0"/>
                <a:ea typeface="Public Sans" pitchFamily="34" charset="-122"/>
                <a:cs typeface="Public Sans" pitchFamily="34" charset="-120"/>
              </a:rPr>
              <a:t>Health</a:t>
            </a:r>
            <a:endParaRPr lang="en-US" sz="1700" dirty="0"/>
          </a:p>
        </p:txBody>
      </p:sp>
      <p:sp>
        <p:nvSpPr>
          <p:cNvPr id="24" name="Text 22"/>
          <p:cNvSpPr/>
          <p:nvPr/>
        </p:nvSpPr>
        <p:spPr>
          <a:xfrm>
            <a:off x="6381750" y="426070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D57"/>
                </a:solidFill>
                <a:latin typeface="Public Sans" pitchFamily="34" charset="0"/>
                <a:ea typeface="Public Sans" pitchFamily="34" charset="-122"/>
                <a:cs typeface="Public Sans" pitchFamily="34" charset="-120"/>
              </a:rPr>
              <a:t>Insurance, doctor appointments</a:t>
            </a:r>
            <a:endParaRPr lang="en-US" sz="1200" dirty="0"/>
          </a:p>
        </p:txBody>
      </p:sp>
      <p:sp>
        <p:nvSpPr>
          <p:cNvPr id="25" name="Shape 23"/>
          <p:cNvSpPr/>
          <p:nvPr/>
        </p:nvSpPr>
        <p:spPr>
          <a:xfrm>
            <a:off x="8855075" y="3744466"/>
            <a:ext cx="2520950" cy="1149251"/>
          </a:xfrm>
          <a:prstGeom prst="roundRect">
            <a:avLst>
              <a:gd name="adj" fmla="val 10774"/>
            </a:avLst>
          </a:prstGeom>
          <a:solidFill>
            <a:srgbClr val="C8102E"/>
          </a:solidFill>
          <a:ln w="6350">
            <a:solidFill>
              <a:srgbClr val="C8102E"/>
            </a:solidFill>
            <a:prstDash val="solid"/>
          </a:ln>
        </p:spPr>
      </p:sp>
      <p:sp>
        <p:nvSpPr>
          <p:cNvPr id="26" name="Text 24"/>
          <p:cNvSpPr/>
          <p:nvPr/>
        </p:nvSpPr>
        <p:spPr>
          <a:xfrm>
            <a:off x="9061450" y="3950841"/>
            <a:ext cx="217144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AF7F6"/>
                </a:solidFill>
                <a:latin typeface="Public Sans" pitchFamily="34" charset="0"/>
                <a:ea typeface="Public Sans" pitchFamily="34" charset="-122"/>
                <a:cs typeface="Public Sans" pitchFamily="34" charset="-120"/>
              </a:rPr>
              <a:t>Retirement</a:t>
            </a:r>
            <a:endParaRPr lang="en-US" sz="1700" dirty="0"/>
          </a:p>
        </p:txBody>
      </p:sp>
      <p:sp>
        <p:nvSpPr>
          <p:cNvPr id="27" name="Text 25"/>
          <p:cNvSpPr/>
          <p:nvPr/>
        </p:nvSpPr>
        <p:spPr>
          <a:xfrm>
            <a:off x="9061450" y="4260701"/>
            <a:ext cx="2311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E3E6"/>
                </a:solidFill>
                <a:latin typeface="Public Sans" pitchFamily="34" charset="0"/>
                <a:ea typeface="Public Sans" pitchFamily="34" charset="-122"/>
                <a:cs typeface="Public Sans" pitchFamily="34" charset="-120"/>
              </a:rPr>
              <a:t>Pension application and more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8102E"/>
        </a:solidFill>
      </p:bgPr>
    </p:bg>
    <p:spTree>
      <p:nvGrpSpPr>
        <p:cNvPr id="1" name=""/>
        <p:cNvGrpSpPr/>
        <p:nvPr/>
      </p:nvGrpSpPr>
      <p:grpSpPr>
        <a:xfrm>
          <a:off x="0" y="0"/>
          <a:ext cx="0" cy="0"/>
          <a:chOff x="0" y="0"/>
          <a:chExt cx="0" cy="0"/>
        </a:xfrm>
      </p:grpSpPr>
      <p:sp>
        <p:nvSpPr>
          <p:cNvPr id="2" name="Shape 0"/>
          <p:cNvSpPr/>
          <p:nvPr/>
        </p:nvSpPr>
        <p:spPr>
          <a:xfrm>
            <a:off x="0" y="6705600"/>
            <a:ext cx="12192000" cy="152400"/>
          </a:xfrm>
          <a:prstGeom prst="rect">
            <a:avLst/>
          </a:prstGeom>
          <a:solidFill>
            <a:srgbClr val="FAF7F6"/>
          </a:solidFill>
          <a:ln/>
        </p:spPr>
      </p:sp>
      <p:sp>
        <p:nvSpPr>
          <p:cNvPr id="3" name="Text 1"/>
          <p:cNvSpPr/>
          <p:nvPr>
            <p:ph type="title"/>
          </p:nvPr>
        </p:nvSpPr>
        <p:spPr>
          <a:xfrm>
            <a:off x="812800" y="1671340"/>
            <a:ext cx="10464800" cy="1892300"/>
          </a:xfrm>
          <a:prstGeom prst="rect">
            <a:avLst/>
          </a:prstGeom>
          <a:noFill/>
          <a:ln/>
        </p:spPr>
        <p:txBody>
          <a:bodyPr wrap="square" lIns="0" tIns="0" rIns="0" bIns="0" rtlCol="0" anchor="t">
            <a:normAutofit/>
          </a:bodyPr>
          <a:lstStyle/>
          <a:p>
            <a:pPr algn="l" indent="0" marL="0">
              <a:lnSpc>
                <a:spcPts val="7350"/>
              </a:lnSpc>
              <a:buNone/>
            </a:pPr>
            <a:r>
              <a:rPr lang="en-US" sz="7000" b="1" i="0" spc="-200" kern="0" dirty="0">
                <a:solidFill>
                  <a:srgbClr val="FAF7F6"/>
                </a:solidFill>
                <a:latin typeface="DM Sans" pitchFamily="34" charset="0"/>
                <a:ea typeface="DM Sans" pitchFamily="34" charset="-122"/>
                <a:cs typeface="DM Sans" pitchFamily="34" charset="-120"/>
              </a:rPr>
              <a:t>Say what you need. Amtsweg does the rest.</a:t>
            </a:r>
            <a:endParaRPr lang="en-US" sz="7000" dirty="0"/>
          </a:p>
        </p:txBody>
      </p:sp>
      <p:sp>
        <p:nvSpPr>
          <p:cNvPr id="4" name="Text 2"/>
          <p:cNvSpPr/>
          <p:nvPr/>
        </p:nvSpPr>
        <p:spPr>
          <a:xfrm>
            <a:off x="812800" y="3843040"/>
            <a:ext cx="9156700" cy="77976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FE3E6"/>
                </a:solidFill>
                <a:latin typeface="Public Sans" pitchFamily="34" charset="0"/>
                <a:ea typeface="Public Sans" pitchFamily="34" charset="-122"/>
                <a:cs typeface="Public Sans" pitchFamily="34" charset="-120"/>
              </a:rPr>
              <a:t>Your portable official clerk — powered by ID Austria, confirmed by you.</a:t>
            </a:r>
            <a:endParaRPr lang="en-US" sz="2200" dirty="0"/>
          </a:p>
        </p:txBody>
      </p:sp>
      <p:sp>
        <p:nvSpPr>
          <p:cNvPr id="5" name="Text 3"/>
          <p:cNvSpPr/>
          <p:nvPr/>
        </p:nvSpPr>
        <p:spPr>
          <a:xfrm>
            <a:off x="812800" y="49022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spc="150" kern="0" dirty="0">
                <a:solidFill>
                  <a:srgbClr val="FAF7F6"/>
                </a:solidFill>
                <a:latin typeface="Public Sans" pitchFamily="34" charset="0"/>
                <a:ea typeface="Public Sans" pitchFamily="34" charset="-122"/>
                <a:cs typeface="Public Sans" pitchFamily="34" charset="-120"/>
              </a:rPr>
              <a:t>TEAM AISTRONAUTS · THANK YOU</a:t>
            </a:r>
            <a:endParaRPr lang="en-US" sz="1600" dirty="0"/>
          </a:p>
        </p:txBody>
      </p:sp>
    </p:spTree>
  </p:cSld>
  <p:clrMapOvr>
    <a:masterClrMapping/>
  </p:clrMapOvr>
</p:sld>
</file>

<file path=ppt/theme/theme1.xml><?xml version="1.0" encoding="utf-8"?>
<a:theme xmlns:a="http://schemas.openxmlformats.org/drawingml/2006/main" name="Amtsweg — Your portable official clerk">
  <a:themeElements>
    <a:clrScheme name="Amtsweg — Your portable official clerk">
      <a:dk1>
        <a:srgbClr val="1B1D24"/>
      </a:dk1>
      <a:lt1>
        <a:srgbClr val="FAF7F6"/>
      </a:lt1>
      <a:dk2>
        <a:srgbClr val="535459"/>
      </a:dk2>
      <a:lt2>
        <a:srgbClr val="E4E1E1"/>
      </a:lt2>
      <a:accent1>
        <a:srgbClr val="C8102E"/>
      </a:accent1>
      <a:accent2>
        <a:srgbClr val="FF6B7D"/>
      </a:accent2>
      <a:accent3>
        <a:srgbClr val="4A4D57"/>
      </a:accent3>
      <a:accent4>
        <a:srgbClr val="C9CBD3"/>
      </a:accent4>
      <a:accent5>
        <a:srgbClr val="3A3D47"/>
      </a:accent5>
      <a:accent6>
        <a:srgbClr val="9AA0A6"/>
      </a:accent6>
      <a:hlink>
        <a:srgbClr val="0563C1"/>
      </a:hlink>
      <a:folHlink>
        <a:srgbClr val="954F72"/>
      </a:folHlink>
    </a:clrScheme>
    <a:fontScheme name="Amtsweg — Your portable official clerk">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Amtsweg — Your portable official clerk</dc:title>
  <dc:subject/>
  <dc:creator/>
  <cp:lastModifiedBy/>
  <cp:revision>1</cp:revision>
  <dcterms:created xsi:type="dcterms:W3CDTF">2026-10-14T17:38:59Z</dcterms:created>
  <dcterms:modified xsi:type="dcterms:W3CDTF">2026-10-14T17:38:59Z</dcterms:modified>
</cp:coreProperties>
</file>